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Play"/>
      <p:regular r:id="rId46"/>
      <p:bold r:id="rId47"/>
    </p:embeddedFont>
    <p:embeddedFont>
      <p:font typeface="Roboto"/>
      <p:regular r:id="rId48"/>
      <p:bold r:id="rId49"/>
      <p:italic r:id="rId50"/>
      <p:boldItalic r:id="rId51"/>
    </p:embeddedFont>
    <p:embeddedFont>
      <p:font typeface="Noto Sans Symbols"/>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j2U4EzKnLUoL3QmbdQns5Dy6n5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FE5F46-EEA6-4C2A-8F00-2A03C660FC93}">
  <a:tblStyle styleId="{07FE5F46-EEA6-4C2A-8F00-2A03C660FC93}"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ay-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font" Target="fonts/Play-bold.fntdata"/><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NotoSansSymbols-bold.fntdata"/><Relationship Id="rId52" Type="http://schemas.openxmlformats.org/officeDocument/2006/relationships/font" Target="fonts/NotoSansSymbols-regular.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4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4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0"/>
          <p:cNvSpPr/>
          <p:nvPr>
            <p:ph idx="2" type="pic"/>
          </p:nvPr>
        </p:nvSpPr>
        <p:spPr>
          <a:xfrm>
            <a:off x="5183188" y="987425"/>
            <a:ext cx="6172200" cy="4873625"/>
          </a:xfrm>
          <a:prstGeom prst="rect">
            <a:avLst/>
          </a:prstGeom>
          <a:noFill/>
          <a:ln>
            <a:noFill/>
          </a:ln>
        </p:spPr>
      </p:sp>
      <p:sp>
        <p:nvSpPr>
          <p:cNvPr id="64" name="Google Shape;64;p5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7.png"/><Relationship Id="rId4" Type="http://schemas.openxmlformats.org/officeDocument/2006/relationships/hyperlink" Target="https://medium.com/syntaxerrorpub/understanding-the-difference-between-training-test-and-validation-sets-in-machine-learning-c59feec6483b"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8.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40.png"/><Relationship Id="rId5" Type="http://schemas.openxmlformats.org/officeDocument/2006/relationships/image" Target="../media/image46.png"/><Relationship Id="rId6" Type="http://schemas.openxmlformats.org/officeDocument/2006/relationships/image" Target="../media/image35.png"/><Relationship Id="rId7"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354419" y="692097"/>
            <a:ext cx="11483162" cy="5473806"/>
          </a:xfrm>
          <a:prstGeom prst="rect">
            <a:avLst/>
          </a:prstGeom>
          <a:noFill/>
          <a:ln>
            <a:noFill/>
          </a:ln>
        </p:spPr>
        <p:txBody>
          <a:bodyPr anchorCtr="0" anchor="t" bIns="45700" lIns="91425" spcFirstLastPara="1" rIns="91425" wrap="square" tIns="45700">
            <a:spAutoFit/>
          </a:bodyPr>
          <a:lstStyle/>
          <a:p>
            <a:pPr indent="0" lvl="0" marL="95885" marR="116204" rtl="0" algn="ctr">
              <a:spcBef>
                <a:spcPts val="0"/>
              </a:spcBef>
              <a:spcAft>
                <a:spcPts val="0"/>
              </a:spcAft>
              <a:buNone/>
            </a:pPr>
            <a:r>
              <a:rPr b="1" i="0" lang="es-ES" sz="3200" u="none" cap="none" strike="noStrike">
                <a:solidFill>
                  <a:srgbClr val="1154CC"/>
                </a:solidFill>
                <a:latin typeface="Arial"/>
                <a:ea typeface="Arial"/>
                <a:cs typeface="Arial"/>
                <a:sym typeface="Arial"/>
              </a:rPr>
              <a:t>UNIVERSITAT DE BARCELONA</a:t>
            </a:r>
            <a:endParaRPr b="0" i="0" sz="2400" u="none" cap="none" strike="noStrike">
              <a:solidFill>
                <a:schemeClr val="dk1"/>
              </a:solidFill>
              <a:latin typeface="Roboto"/>
              <a:ea typeface="Roboto"/>
              <a:cs typeface="Roboto"/>
              <a:sym typeface="Roboto"/>
            </a:endParaRPr>
          </a:p>
          <a:p>
            <a:pPr indent="0" lvl="0" marL="95885" marR="116204" rtl="0" algn="ctr">
              <a:spcBef>
                <a:spcPts val="1440"/>
              </a:spcBef>
              <a:spcAft>
                <a:spcPts val="0"/>
              </a:spcAft>
              <a:buNone/>
            </a:pPr>
            <a:r>
              <a:rPr b="1" i="0" lang="es-ES" sz="3600" u="none" cap="none" strike="noStrike">
                <a:solidFill>
                  <a:srgbClr val="1154CC"/>
                </a:solidFill>
                <a:latin typeface="Arial"/>
                <a:ea typeface="Arial"/>
                <a:cs typeface="Arial"/>
                <a:sym typeface="Arial"/>
              </a:rPr>
              <a:t>MASTER EN BIG DATA &amp; DATA SCIENCE</a:t>
            </a:r>
            <a:endParaRPr b="0" i="0" sz="2400" u="none" cap="none" strike="noStrike">
              <a:solidFill>
                <a:schemeClr val="dk1"/>
              </a:solidFill>
              <a:latin typeface="Roboto"/>
              <a:ea typeface="Roboto"/>
              <a:cs typeface="Roboto"/>
              <a:sym typeface="Roboto"/>
            </a:endParaRPr>
          </a:p>
          <a:p>
            <a:pPr indent="0" lvl="0" marL="0" marR="0" rtl="0" algn="l">
              <a:spcBef>
                <a:spcPts val="0"/>
              </a:spcBef>
              <a:spcAft>
                <a:spcPts val="0"/>
              </a:spcAft>
              <a:buNone/>
            </a:pPr>
            <a:r>
              <a:rPr b="0" i="0" lang="es-ES" sz="12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a:p>
            <a:pPr indent="0" lvl="0" marL="0" marR="0" rtl="0" algn="l">
              <a:spcBef>
                <a:spcPts val="0"/>
              </a:spcBef>
              <a:spcAft>
                <a:spcPts val="0"/>
              </a:spcAft>
              <a:buNone/>
            </a:pPr>
            <a:r>
              <a:rPr b="1" i="0" lang="es-ES" sz="2800" u="none" cap="none" strike="noStrike">
                <a:solidFill>
                  <a:srgbClr val="000000"/>
                </a:solidFill>
                <a:latin typeface="Arial"/>
                <a:ea typeface="Arial"/>
                <a:cs typeface="Arial"/>
                <a:sym typeface="Arial"/>
              </a:rPr>
              <a:t> </a:t>
            </a:r>
            <a:endParaRPr b="0" i="0" sz="1200" u="none" cap="none" strike="noStrike">
              <a:solidFill>
                <a:schemeClr val="dk1"/>
              </a:solidFill>
              <a:latin typeface="Roboto"/>
              <a:ea typeface="Roboto"/>
              <a:cs typeface="Roboto"/>
              <a:sym typeface="Roboto"/>
            </a:endParaRPr>
          </a:p>
          <a:p>
            <a:pPr indent="0" lvl="0" marL="0" marR="0" rtl="0" algn="l">
              <a:spcBef>
                <a:spcPts val="50"/>
              </a:spcBef>
              <a:spcAft>
                <a:spcPts val="0"/>
              </a:spcAft>
              <a:buNone/>
            </a:pPr>
            <a:r>
              <a:rPr b="1" i="0" lang="es-ES" sz="2800" u="none" cap="none" strike="noStrike">
                <a:solidFill>
                  <a:srgbClr val="000000"/>
                </a:solidFill>
                <a:latin typeface="Arial"/>
                <a:ea typeface="Arial"/>
                <a:cs typeface="Arial"/>
                <a:sym typeface="Arial"/>
              </a:rPr>
              <a:t> </a:t>
            </a:r>
            <a:endParaRPr b="0" i="0" sz="1200" u="none" cap="none" strike="noStrike">
              <a:solidFill>
                <a:schemeClr val="dk1"/>
              </a:solidFill>
              <a:latin typeface="Roboto"/>
              <a:ea typeface="Roboto"/>
              <a:cs typeface="Roboto"/>
              <a:sym typeface="Roboto"/>
            </a:endParaRPr>
          </a:p>
          <a:p>
            <a:pPr indent="0" lvl="0" marL="95885" marR="116204" rtl="0" algn="ctr">
              <a:lnSpc>
                <a:spcPct val="115000"/>
              </a:lnSpc>
              <a:spcBef>
                <a:spcPts val="0"/>
              </a:spcBef>
              <a:spcAft>
                <a:spcPts val="0"/>
              </a:spcAft>
              <a:buNone/>
            </a:pPr>
            <a:r>
              <a:rPr b="0" i="0" lang="es-ES" sz="2800" u="none" cap="none" strike="noStrike">
                <a:solidFill>
                  <a:srgbClr val="202529"/>
                </a:solidFill>
                <a:latin typeface="Arial"/>
                <a:ea typeface="Arial"/>
                <a:cs typeface="Arial"/>
                <a:sym typeface="Arial"/>
              </a:rPr>
              <a:t>“</a:t>
            </a:r>
            <a:r>
              <a:rPr b="1" i="1" lang="es-ES" sz="2800" u="none" cap="none" strike="noStrike">
                <a:solidFill>
                  <a:srgbClr val="202529"/>
                </a:solidFill>
                <a:latin typeface="Arial"/>
                <a:ea typeface="Arial"/>
                <a:cs typeface="Arial"/>
                <a:sym typeface="Arial"/>
              </a:rPr>
              <a:t>MODELO PREDICTIVO DE DOWNTIME PARA MAQUINARIA DE COSTURA EN FOTL ES”</a:t>
            </a:r>
            <a:endParaRPr/>
          </a:p>
          <a:p>
            <a:pPr indent="0" lvl="0" marL="95885" marR="116204" rtl="0" algn="ctr">
              <a:lnSpc>
                <a:spcPct val="115000"/>
              </a:lnSpc>
              <a:spcBef>
                <a:spcPts val="0"/>
              </a:spcBef>
              <a:spcAft>
                <a:spcPts val="0"/>
              </a:spcAft>
              <a:buNone/>
            </a:pPr>
            <a:r>
              <a:t/>
            </a:r>
            <a:endParaRPr b="1" i="1" sz="1800" u="none" cap="none" strike="noStrike">
              <a:solidFill>
                <a:srgbClr val="202529"/>
              </a:solidFill>
              <a:latin typeface="Arial"/>
              <a:ea typeface="Arial"/>
              <a:cs typeface="Arial"/>
              <a:sym typeface="Arial"/>
            </a:endParaRPr>
          </a:p>
          <a:p>
            <a:pPr indent="0" lvl="0" marL="95885" marR="116204" rtl="0" algn="r">
              <a:lnSpc>
                <a:spcPct val="115000"/>
              </a:lnSpc>
              <a:spcBef>
                <a:spcPts val="0"/>
              </a:spcBef>
              <a:spcAft>
                <a:spcPts val="0"/>
              </a:spcAft>
              <a:buNone/>
            </a:pPr>
            <a:r>
              <a:rPr b="1" i="1" lang="es-ES" sz="1400" u="none" cap="none" strike="noStrike">
                <a:solidFill>
                  <a:srgbClr val="202529"/>
                </a:solidFill>
                <a:latin typeface="Arial"/>
                <a:ea typeface="Arial"/>
                <a:cs typeface="Arial"/>
                <a:sym typeface="Arial"/>
              </a:rPr>
              <a:t>PRESENTAN:</a:t>
            </a:r>
            <a:endParaRPr/>
          </a:p>
          <a:p>
            <a:pPr indent="0" lvl="0" marL="0" marR="0" rtl="0" algn="r">
              <a:spcBef>
                <a:spcPts val="0"/>
              </a:spcBef>
              <a:spcAft>
                <a:spcPts val="0"/>
              </a:spcAft>
              <a:buNone/>
            </a:pPr>
            <a:r>
              <a:rPr b="0" i="0" lang="es-ES" sz="2000" u="none" cap="none" strike="noStrike">
                <a:solidFill>
                  <a:schemeClr val="dk1"/>
                </a:solidFill>
                <a:latin typeface="Arial"/>
                <a:ea typeface="Arial"/>
                <a:cs typeface="Arial"/>
                <a:sym typeface="Arial"/>
              </a:rPr>
              <a:t>Luis Gamiño González </a:t>
            </a:r>
            <a:endParaRPr b="0" i="0" sz="2000" u="none" cap="none" strike="noStrike">
              <a:solidFill>
                <a:schemeClr val="dk1"/>
              </a:solidFill>
              <a:latin typeface="Roboto"/>
              <a:ea typeface="Roboto"/>
              <a:cs typeface="Roboto"/>
              <a:sym typeface="Roboto"/>
            </a:endParaRPr>
          </a:p>
          <a:p>
            <a:pPr indent="0" lvl="0" marL="0" marR="0" rtl="0" algn="r">
              <a:spcBef>
                <a:spcPts val="0"/>
              </a:spcBef>
              <a:spcAft>
                <a:spcPts val="0"/>
              </a:spcAft>
              <a:buNone/>
            </a:pPr>
            <a:r>
              <a:rPr b="0" i="0" lang="es-ES" sz="2000" u="none" cap="none" strike="noStrike">
                <a:solidFill>
                  <a:schemeClr val="dk1"/>
                </a:solidFill>
                <a:latin typeface="Arial"/>
                <a:ea typeface="Arial"/>
                <a:cs typeface="Arial"/>
                <a:sym typeface="Arial"/>
              </a:rPr>
              <a:t> </a:t>
            </a:r>
            <a:endParaRPr b="0" i="0" sz="2000" u="none" cap="none" strike="noStrike">
              <a:solidFill>
                <a:schemeClr val="dk1"/>
              </a:solidFill>
              <a:latin typeface="Roboto"/>
              <a:ea typeface="Roboto"/>
              <a:cs typeface="Roboto"/>
              <a:sym typeface="Roboto"/>
            </a:endParaRPr>
          </a:p>
          <a:p>
            <a:pPr indent="0" lvl="0" marL="0" marR="0" rtl="0" algn="r">
              <a:spcBef>
                <a:spcPts val="0"/>
              </a:spcBef>
              <a:spcAft>
                <a:spcPts val="0"/>
              </a:spcAft>
              <a:buNone/>
            </a:pPr>
            <a:r>
              <a:rPr b="0" i="0" lang="es-ES" sz="2000" u="none" cap="none" strike="noStrike">
                <a:solidFill>
                  <a:schemeClr val="dk1"/>
                </a:solidFill>
                <a:latin typeface="Arial"/>
                <a:ea typeface="Arial"/>
                <a:cs typeface="Arial"/>
                <a:sym typeface="Arial"/>
              </a:rPr>
              <a:t>César Emilio García Ávalos</a:t>
            </a:r>
            <a:endParaRPr b="0" i="0" sz="2000" u="none" cap="none" strike="noStrike">
              <a:solidFill>
                <a:schemeClr val="dk1"/>
              </a:solidFill>
              <a:latin typeface="Roboto"/>
              <a:ea typeface="Roboto"/>
              <a:cs typeface="Roboto"/>
              <a:sym typeface="Roboto"/>
            </a:endParaRPr>
          </a:p>
          <a:p>
            <a:pPr indent="0" lvl="0" marL="0" marR="0" rtl="0" algn="r">
              <a:spcBef>
                <a:spcPts val="0"/>
              </a:spcBef>
              <a:spcAft>
                <a:spcPts val="0"/>
              </a:spcAft>
              <a:buNone/>
            </a:pPr>
            <a:r>
              <a:rPr b="0" i="0" lang="es-ES" sz="2000" u="none" cap="none" strike="noStrike">
                <a:solidFill>
                  <a:schemeClr val="dk1"/>
                </a:solidFill>
                <a:latin typeface="Arial"/>
                <a:ea typeface="Arial"/>
                <a:cs typeface="Arial"/>
                <a:sym typeface="Arial"/>
              </a:rPr>
              <a:t> </a:t>
            </a:r>
            <a:endParaRPr b="0" i="0" sz="2000" u="none" cap="none" strike="noStrike">
              <a:solidFill>
                <a:schemeClr val="dk1"/>
              </a:solidFill>
              <a:latin typeface="Roboto"/>
              <a:ea typeface="Roboto"/>
              <a:cs typeface="Roboto"/>
              <a:sym typeface="Roboto"/>
            </a:endParaRPr>
          </a:p>
          <a:p>
            <a:pPr indent="0" lvl="0" marL="0" marR="0" rtl="0" algn="r">
              <a:spcBef>
                <a:spcPts val="0"/>
              </a:spcBef>
              <a:spcAft>
                <a:spcPts val="0"/>
              </a:spcAft>
              <a:buNone/>
            </a:pPr>
            <a:r>
              <a:rPr b="0" i="0" lang="es-ES" sz="2000" u="none" cap="none" strike="noStrike">
                <a:solidFill>
                  <a:schemeClr val="dk1"/>
                </a:solidFill>
                <a:latin typeface="Arial"/>
                <a:ea typeface="Arial"/>
                <a:cs typeface="Arial"/>
                <a:sym typeface="Arial"/>
              </a:rPr>
              <a:t>Andrey Ismagilov</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0" y="281218"/>
            <a:ext cx="4667693" cy="1010093"/>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s-ES">
                <a:solidFill>
                  <a:schemeClr val="lt1"/>
                </a:solidFill>
              </a:rPr>
              <a:t>ANTECEDENTES</a:t>
            </a:r>
            <a:endParaRPr>
              <a:solidFill>
                <a:schemeClr val="lt1"/>
              </a:solidFill>
            </a:endParaRPr>
          </a:p>
        </p:txBody>
      </p:sp>
      <p:sp>
        <p:nvSpPr>
          <p:cNvPr id="90" name="Google Shape;90;p2"/>
          <p:cNvSpPr/>
          <p:nvPr/>
        </p:nvSpPr>
        <p:spPr>
          <a:xfrm>
            <a:off x="540492" y="3870249"/>
            <a:ext cx="2902688" cy="2387174"/>
          </a:xfrm>
          <a:prstGeom prst="homePlate">
            <a:avLst>
              <a:gd fmla="val 50000" name="adj"/>
            </a:avLst>
          </a:prstGeom>
          <a:solidFill>
            <a:srgbClr val="0B769F"/>
          </a:solidFill>
          <a:ln cap="flat" cmpd="sng" w="19050">
            <a:solidFill>
              <a:srgbClr val="082836"/>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FOTL produce 187 docenas prendas de vestir en una hora</a:t>
            </a:r>
            <a:endParaRPr b="0" i="0" sz="1800" u="none" cap="none" strike="noStrike">
              <a:solidFill>
                <a:schemeClr val="lt1"/>
              </a:solidFill>
              <a:latin typeface="Arial"/>
              <a:ea typeface="Arial"/>
              <a:cs typeface="Arial"/>
              <a:sym typeface="Arial"/>
            </a:endParaRPr>
          </a:p>
        </p:txBody>
      </p:sp>
      <p:sp>
        <p:nvSpPr>
          <p:cNvPr id="91" name="Google Shape;91;p2"/>
          <p:cNvSpPr/>
          <p:nvPr/>
        </p:nvSpPr>
        <p:spPr>
          <a:xfrm>
            <a:off x="2316129" y="3870249"/>
            <a:ext cx="4093535" cy="2381693"/>
          </a:xfrm>
          <a:prstGeom prst="chevron">
            <a:avLst>
              <a:gd fmla="val 50000" name="adj"/>
            </a:avLst>
          </a:prstGeom>
          <a:solidFill>
            <a:srgbClr val="0B769F"/>
          </a:solidFill>
          <a:ln cap="flat" cmpd="sng" w="19050">
            <a:solidFill>
              <a:srgbClr val="082836"/>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La mediana actual de tiempo de paro de 50 minutos</a:t>
            </a:r>
            <a:endParaRPr b="0" i="0" sz="1800" u="none" cap="none" strike="noStrike">
              <a:solidFill>
                <a:schemeClr val="lt1"/>
              </a:solidFill>
              <a:latin typeface="Arial"/>
              <a:ea typeface="Arial"/>
              <a:cs typeface="Arial"/>
              <a:sym typeface="Arial"/>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2" name="Google Shape;92;p2"/>
          <p:cNvSpPr/>
          <p:nvPr/>
        </p:nvSpPr>
        <p:spPr>
          <a:xfrm>
            <a:off x="5282612" y="3870249"/>
            <a:ext cx="4190997" cy="2381693"/>
          </a:xfrm>
          <a:prstGeom prst="chevron">
            <a:avLst>
              <a:gd fmla="val 50000" name="adj"/>
            </a:avLst>
          </a:prstGeom>
          <a:solidFill>
            <a:srgbClr val="0B769F"/>
          </a:solidFill>
          <a:ln cap="flat" cmpd="sng" w="19050">
            <a:solidFill>
              <a:srgbClr val="082836"/>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Este tiempo de paro se traduce en pérdidas de 155.83 docenas de prendas</a:t>
            </a:r>
            <a:endParaRPr b="0" i="0" sz="1800" u="none" cap="none" strike="noStrike">
              <a:solidFill>
                <a:schemeClr val="lt1"/>
              </a:solidFill>
              <a:latin typeface="Arial"/>
              <a:ea typeface="Arial"/>
              <a:cs typeface="Arial"/>
              <a:sym typeface="Arial"/>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3" name="Google Shape;93;p2"/>
          <p:cNvSpPr txBox="1"/>
          <p:nvPr/>
        </p:nvSpPr>
        <p:spPr>
          <a:xfrm>
            <a:off x="9590567" y="4026454"/>
            <a:ext cx="2401190"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cap="none" strike="noStrike">
                <a:solidFill>
                  <a:schemeClr val="dk1"/>
                </a:solidFill>
                <a:latin typeface="Arial"/>
                <a:ea typeface="Arial"/>
                <a:cs typeface="Arial"/>
                <a:sym typeface="Arial"/>
              </a:rPr>
              <a:t>Por políticas de la empresa no se tiene acceso a datos de precio de venta para el cálculo de la destrucción de negocio por pérdida de ingresos.</a:t>
            </a:r>
            <a:endParaRPr b="0" i="0" sz="1800" u="none" cap="none" strike="noStrike">
              <a:solidFill>
                <a:schemeClr val="dk1"/>
              </a:solidFill>
              <a:latin typeface="Arial"/>
              <a:ea typeface="Arial"/>
              <a:cs typeface="Arial"/>
              <a:sym typeface="Arial"/>
            </a:endParaRPr>
          </a:p>
        </p:txBody>
      </p:sp>
      <p:sp>
        <p:nvSpPr>
          <p:cNvPr id="94" name="Google Shape;94;p2"/>
          <p:cNvSpPr txBox="1"/>
          <p:nvPr>
            <p:ph idx="1" type="body"/>
          </p:nvPr>
        </p:nvSpPr>
        <p:spPr>
          <a:xfrm>
            <a:off x="540492" y="1859275"/>
            <a:ext cx="10515600" cy="1885138"/>
          </a:xfrm>
          <a:prstGeom prst="rect">
            <a:avLst/>
          </a:prstGeom>
          <a:noFill/>
          <a:ln>
            <a:noFill/>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rgbClr val="202529"/>
              </a:buClr>
              <a:buSzPts val="1800"/>
              <a:buNone/>
            </a:pPr>
            <a:r>
              <a:rPr lang="es-ES" sz="1800">
                <a:solidFill>
                  <a:srgbClr val="202529"/>
                </a:solidFill>
                <a:latin typeface="Arial"/>
                <a:ea typeface="Arial"/>
                <a:cs typeface="Arial"/>
                <a:sym typeface="Arial"/>
              </a:rPr>
              <a:t>Fruit of the Loom® es una marca global que ofrece camisetas de colores, lana, ropa interior y prendas de vestir a consumidores de todas las edades. FOTL exporta más de 37 millones de docenas de prendas de vestir al año desde El Salvador. Por lo tanto, los paros de máquina pueden resultar en pérdidas financieras considerables debido a la interrupción de la producción. </a:t>
            </a:r>
            <a:endParaRPr sz="1800">
              <a:latin typeface="Roboto"/>
              <a:ea typeface="Roboto"/>
              <a:cs typeface="Roboto"/>
              <a:sym typeface="Roboto"/>
            </a:endParaRPr>
          </a:p>
        </p:txBody>
      </p:sp>
      <p:pic>
        <p:nvPicPr>
          <p:cNvPr id="95" name="Google Shape;95;p2"/>
          <p:cNvPicPr preferRelativeResize="0"/>
          <p:nvPr/>
        </p:nvPicPr>
        <p:blipFill rotWithShape="1">
          <a:blip r:embed="rId3">
            <a:alphaModFix/>
          </a:blip>
          <a:srcRect b="0" l="22993" r="22461" t="0"/>
          <a:stretch/>
        </p:blipFill>
        <p:spPr>
          <a:xfrm>
            <a:off x="10120426" y="131617"/>
            <a:ext cx="1871331" cy="17925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pSp>
        <p:nvGrpSpPr>
          <p:cNvPr id="100" name="Google Shape;100;p3"/>
          <p:cNvGrpSpPr/>
          <p:nvPr/>
        </p:nvGrpSpPr>
        <p:grpSpPr>
          <a:xfrm>
            <a:off x="838200" y="2147970"/>
            <a:ext cx="10515600" cy="3914115"/>
            <a:chOff x="0" y="221704"/>
            <a:chExt cx="10515600" cy="3914115"/>
          </a:xfrm>
        </p:grpSpPr>
        <p:sp>
          <p:nvSpPr>
            <p:cNvPr id="101" name="Google Shape;101;p3"/>
            <p:cNvSpPr/>
            <p:nvPr/>
          </p:nvSpPr>
          <p:spPr>
            <a:xfrm>
              <a:off x="0" y="221704"/>
              <a:ext cx="10515600" cy="1510711"/>
            </a:xfrm>
            <a:prstGeom prst="roundRect">
              <a:avLst>
                <a:gd fmla="val 10000" name="adj"/>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456990" y="561614"/>
              <a:ext cx="831703" cy="830891"/>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1745683" y="221704"/>
              <a:ext cx="8612112" cy="179396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txBox="1"/>
            <p:nvPr/>
          </p:nvSpPr>
          <p:spPr>
            <a:xfrm>
              <a:off x="1745683" y="221704"/>
              <a:ext cx="8612112" cy="1793969"/>
            </a:xfrm>
            <a:prstGeom prst="rect">
              <a:avLst/>
            </a:prstGeom>
            <a:noFill/>
            <a:ln>
              <a:noFill/>
            </a:ln>
          </p:spPr>
          <p:txBody>
            <a:bodyPr anchorCtr="0" anchor="ctr" bIns="189850" lIns="189850" spcFirstLastPara="1" rIns="189850" wrap="square" tIns="189850">
              <a:noAutofit/>
            </a:bodyPr>
            <a:lstStyle/>
            <a:p>
              <a:pPr indent="0" lvl="0" marL="0" marR="0" rtl="0" algn="l">
                <a:lnSpc>
                  <a:spcPct val="100000"/>
                </a:lnSpc>
                <a:spcBef>
                  <a:spcPts val="0"/>
                </a:spcBef>
                <a:spcAft>
                  <a:spcPts val="0"/>
                </a:spcAft>
                <a:buClr>
                  <a:schemeClr val="dk1"/>
                </a:buClr>
                <a:buSzPts val="1800"/>
                <a:buFont typeface="Arial"/>
                <a:buNone/>
              </a:pPr>
              <a:r>
                <a:rPr b="1" i="0" lang="es-ES" sz="1800" u="sng" cap="none" strike="noStrike">
                  <a:solidFill>
                    <a:schemeClr val="dk1"/>
                  </a:solidFill>
                  <a:latin typeface="Arial"/>
                  <a:ea typeface="Arial"/>
                  <a:cs typeface="Arial"/>
                  <a:sym typeface="Arial"/>
                </a:rPr>
                <a:t>Objetivo Principal</a:t>
              </a:r>
              <a:r>
                <a:rPr b="1" i="0" lang="es-ES" sz="1800" u="none" cap="none" strike="noStrike">
                  <a:solidFill>
                    <a:schemeClr val="dk1"/>
                  </a:solidFill>
                  <a:latin typeface="Arial"/>
                  <a:ea typeface="Arial"/>
                  <a:cs typeface="Arial"/>
                  <a:sym typeface="Arial"/>
                </a:rPr>
                <a:t> </a:t>
              </a:r>
              <a:r>
                <a:rPr b="0" i="0" lang="es-ES" sz="1800" u="none" cap="none" strike="noStrike">
                  <a:solidFill>
                    <a:schemeClr val="dk1"/>
                  </a:solidFill>
                  <a:latin typeface="Arial"/>
                  <a:ea typeface="Arial"/>
                  <a:cs typeface="Arial"/>
                  <a:sym typeface="Arial"/>
                </a:rPr>
                <a:t>El objetivo principal de este proyecto es desarrollar un modelo de predicción del tiempo de paro de maquinaria de costura con el propósito de que el negocio asigne recursos (mecánicos, piezas para reemplazo, máquinas de respaldo, etc.) oportunamente (notar que de ser seleccionado un modelo de Machine Learning se pierde explicatibilidad sobre el fenómeno de paro de máquina).</a:t>
              </a:r>
              <a:endParaRPr b="0" i="0" sz="1800" u="none" cap="none" strike="noStrike">
                <a:solidFill>
                  <a:schemeClr val="dk1"/>
                </a:solidFill>
                <a:latin typeface="Arial"/>
                <a:ea typeface="Arial"/>
                <a:cs typeface="Arial"/>
                <a:sym typeface="Arial"/>
              </a:endParaRPr>
            </a:p>
          </p:txBody>
        </p:sp>
        <p:sp>
          <p:nvSpPr>
            <p:cNvPr id="105" name="Google Shape;105;p3"/>
            <p:cNvSpPr/>
            <p:nvPr/>
          </p:nvSpPr>
          <p:spPr>
            <a:xfrm>
              <a:off x="0" y="2341850"/>
              <a:ext cx="10515600" cy="1510711"/>
            </a:xfrm>
            <a:prstGeom prst="roundRect">
              <a:avLst>
                <a:gd fmla="val 10000" name="adj"/>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456990" y="2681760"/>
              <a:ext cx="831703" cy="830891"/>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745683" y="2341850"/>
              <a:ext cx="8612112" cy="179396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txBox="1"/>
            <p:nvPr/>
          </p:nvSpPr>
          <p:spPr>
            <a:xfrm>
              <a:off x="1745683" y="2341850"/>
              <a:ext cx="8612112" cy="1793969"/>
            </a:xfrm>
            <a:prstGeom prst="rect">
              <a:avLst/>
            </a:prstGeom>
            <a:noFill/>
            <a:ln>
              <a:noFill/>
            </a:ln>
          </p:spPr>
          <p:txBody>
            <a:bodyPr anchorCtr="0" anchor="ctr" bIns="189850" lIns="189850" spcFirstLastPara="1" rIns="189850" wrap="square" tIns="189850">
              <a:noAutofit/>
            </a:bodyPr>
            <a:lstStyle/>
            <a:p>
              <a:pPr indent="0" lvl="0" marL="0" marR="0" rtl="0" algn="l">
                <a:lnSpc>
                  <a:spcPct val="100000"/>
                </a:lnSpc>
                <a:spcBef>
                  <a:spcPts val="0"/>
                </a:spcBef>
                <a:spcAft>
                  <a:spcPts val="0"/>
                </a:spcAft>
                <a:buClr>
                  <a:schemeClr val="dk1"/>
                </a:buClr>
                <a:buSzPts val="1800"/>
                <a:buFont typeface="Arial"/>
                <a:buNone/>
              </a:pPr>
              <a:r>
                <a:rPr b="1" i="0" lang="es-ES" sz="1800" u="sng" cap="none" strike="noStrike">
                  <a:solidFill>
                    <a:schemeClr val="dk1"/>
                  </a:solidFill>
                  <a:latin typeface="Arial"/>
                  <a:ea typeface="Arial"/>
                  <a:cs typeface="Arial"/>
                  <a:sym typeface="Arial"/>
                </a:rPr>
                <a:t>Descripción del Proyecto</a:t>
              </a:r>
              <a:r>
                <a:rPr b="1" i="0" lang="es-ES" sz="1800" u="none" cap="none" strike="noStrike">
                  <a:solidFill>
                    <a:schemeClr val="dk1"/>
                  </a:solidFill>
                  <a:latin typeface="Arial"/>
                  <a:ea typeface="Arial"/>
                  <a:cs typeface="Arial"/>
                  <a:sym typeface="Arial"/>
                </a:rPr>
                <a:t> </a:t>
              </a:r>
              <a:r>
                <a:rPr b="0" i="0" lang="es-ES" sz="1800" u="none" cap="none" strike="noStrike">
                  <a:solidFill>
                    <a:schemeClr val="dk1"/>
                  </a:solidFill>
                  <a:latin typeface="Arial"/>
                  <a:ea typeface="Arial"/>
                  <a:cs typeface="Arial"/>
                  <a:sym typeface="Arial"/>
                </a:rPr>
                <a:t>Este proyecto abordará la problemática de los paros no programados en máquinas de costura, que pueden causar pérdidas en la producción y afectar la cadena de suministro. La implementación de este modelo no solo pretende reducir las interrupciones en la producción, sino que también mejorar la eficiencia operativa y la satisfacción del cliente al asegurar entregas más puntuales y confiables.</a:t>
              </a:r>
              <a:endParaRPr b="0" i="0" sz="1800" u="none" cap="none" strike="noStrike">
                <a:solidFill>
                  <a:schemeClr val="dk1"/>
                </a:solidFill>
                <a:latin typeface="Arial"/>
                <a:ea typeface="Arial"/>
                <a:cs typeface="Arial"/>
                <a:sym typeface="Arial"/>
              </a:endParaRPr>
            </a:p>
          </p:txBody>
        </p:sp>
      </p:grpSp>
      <p:sp>
        <p:nvSpPr>
          <p:cNvPr id="109" name="Google Shape;109;p3"/>
          <p:cNvSpPr txBox="1"/>
          <p:nvPr/>
        </p:nvSpPr>
        <p:spPr>
          <a:xfrm>
            <a:off x="0" y="475347"/>
            <a:ext cx="3689498" cy="1014984"/>
          </a:xfrm>
          <a:prstGeom prst="rect">
            <a:avLst/>
          </a:prstGeom>
          <a:solidFill>
            <a:srgbClr val="0A3041"/>
          </a:solid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Play"/>
              <a:buNone/>
            </a:pPr>
            <a:r>
              <a:rPr b="0" i="0" lang="es-ES" sz="4400" u="none" cap="none" strike="noStrike">
                <a:solidFill>
                  <a:schemeClr val="lt1"/>
                </a:solidFill>
                <a:latin typeface="Play"/>
                <a:ea typeface="Play"/>
                <a:cs typeface="Play"/>
                <a:sym typeface="Play"/>
              </a:rPr>
              <a:t>OBJETIVOS</a:t>
            </a:r>
            <a:endParaRPr b="0" i="0" sz="4400" u="none" cap="none" strike="noStrike">
              <a:solidFill>
                <a:schemeClr val="lt1"/>
              </a:solidFill>
              <a:latin typeface="Play"/>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nvSpPr>
        <p:spPr>
          <a:xfrm>
            <a:off x="641940" y="1823856"/>
            <a:ext cx="11156213" cy="405636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s-ES" sz="1800" u="sng" cap="none" strike="noStrike">
                <a:solidFill>
                  <a:srgbClr val="202529"/>
                </a:solidFill>
                <a:latin typeface="Arial"/>
                <a:ea typeface="Arial"/>
                <a:cs typeface="Arial"/>
                <a:sym typeface="Arial"/>
              </a:rPr>
              <a:t>Beneficios Esperados</a:t>
            </a:r>
            <a:endParaRPr b="0" i="0" sz="1800" u="none" cap="none" strike="noStrike">
              <a:solidFill>
                <a:schemeClr val="dk1"/>
              </a:solidFill>
              <a:latin typeface="Roboto"/>
              <a:ea typeface="Roboto"/>
              <a:cs typeface="Roboto"/>
              <a:sym typeface="Roboto"/>
            </a:endParaRPr>
          </a:p>
          <a:p>
            <a:pPr indent="-342900" lvl="0" marL="342900" marR="0" rtl="0" algn="just">
              <a:lnSpc>
                <a:spcPct val="150000"/>
              </a:lnSpc>
              <a:spcBef>
                <a:spcPts val="735"/>
              </a:spcBef>
              <a:spcAft>
                <a:spcPts val="0"/>
              </a:spcAft>
              <a:buClr>
                <a:srgbClr val="202529"/>
              </a:buClr>
              <a:buSzPts val="1800"/>
              <a:buFont typeface="Arial"/>
              <a:buChar char="✔"/>
            </a:pPr>
            <a:r>
              <a:rPr b="1" i="0" lang="es-ES" sz="1800" u="none" cap="none" strike="noStrike">
                <a:solidFill>
                  <a:srgbClr val="202529"/>
                </a:solidFill>
                <a:latin typeface="Arial"/>
                <a:ea typeface="Arial"/>
                <a:cs typeface="Arial"/>
                <a:sym typeface="Arial"/>
              </a:rPr>
              <a:t>Optimización del Mantenimiento: </a:t>
            </a:r>
            <a:r>
              <a:rPr b="0" i="0" lang="es-ES" sz="1800" u="none" cap="none" strike="noStrike">
                <a:solidFill>
                  <a:srgbClr val="202529"/>
                </a:solidFill>
                <a:latin typeface="Arial"/>
                <a:ea typeface="Arial"/>
                <a:cs typeface="Arial"/>
                <a:sym typeface="Arial"/>
              </a:rPr>
              <a:t>se pretende reducir el tiempo de paro a 20 minutos considerando que la mediana actual es de 50 minutos.</a:t>
            </a:r>
            <a:endParaRPr b="0" i="0" sz="1800" u="none" cap="none" strike="noStrike">
              <a:solidFill>
                <a:schemeClr val="dk1"/>
              </a:solidFill>
              <a:latin typeface="Noto Sans Symbols"/>
              <a:ea typeface="Noto Sans Symbols"/>
              <a:cs typeface="Noto Sans Symbols"/>
              <a:sym typeface="Noto Sans Symbols"/>
            </a:endParaRPr>
          </a:p>
          <a:p>
            <a:pPr indent="-342900" lvl="0" marL="342900" marR="0" rtl="0" algn="just">
              <a:lnSpc>
                <a:spcPct val="150000"/>
              </a:lnSpc>
              <a:spcBef>
                <a:spcPts val="735"/>
              </a:spcBef>
              <a:spcAft>
                <a:spcPts val="0"/>
              </a:spcAft>
              <a:buClr>
                <a:srgbClr val="202529"/>
              </a:buClr>
              <a:buSzPts val="1800"/>
              <a:buFont typeface="Arial"/>
              <a:buChar char="✔"/>
            </a:pPr>
            <a:r>
              <a:rPr b="1" i="0" lang="es-ES" sz="1800" u="none" cap="none" strike="noStrike">
                <a:solidFill>
                  <a:srgbClr val="202529"/>
                </a:solidFill>
                <a:latin typeface="Arial"/>
                <a:ea typeface="Arial"/>
                <a:cs typeface="Arial"/>
                <a:sym typeface="Arial"/>
              </a:rPr>
              <a:t>Reducción de Costos:</a:t>
            </a:r>
            <a:r>
              <a:rPr b="0" i="0" lang="es-ES" sz="1800" u="none" cap="none" strike="noStrike">
                <a:solidFill>
                  <a:srgbClr val="202529"/>
                </a:solidFill>
                <a:latin typeface="Arial"/>
                <a:ea typeface="Arial"/>
                <a:cs typeface="Arial"/>
                <a:sym typeface="Arial"/>
              </a:rPr>
              <a:t> se pretende obtener un ahorro por pago de off estándar (el off estándar es la cobertura que la empresa paga a los asociados de costura por no producir a causa de problemas que salen del control de la asociada de costura, por ejemplo, mala calidad en materia prima, problemas de máquina, etc.) de $18,193.37 en el periodo de un año.</a:t>
            </a:r>
            <a:endParaRPr b="0" i="0" sz="1800" u="none" cap="none" strike="noStrike">
              <a:solidFill>
                <a:schemeClr val="dk1"/>
              </a:solidFill>
              <a:latin typeface="Roboto"/>
              <a:ea typeface="Roboto"/>
              <a:cs typeface="Roboto"/>
              <a:sym typeface="Roboto"/>
            </a:endParaRPr>
          </a:p>
          <a:p>
            <a:pPr indent="-342900" lvl="0" marL="342900" marR="0" rtl="0" algn="just">
              <a:lnSpc>
                <a:spcPct val="150000"/>
              </a:lnSpc>
              <a:spcBef>
                <a:spcPts val="735"/>
              </a:spcBef>
              <a:spcAft>
                <a:spcPts val="0"/>
              </a:spcAft>
              <a:buClr>
                <a:srgbClr val="202529"/>
              </a:buClr>
              <a:buSzPts val="1800"/>
              <a:buFont typeface="Arial"/>
              <a:buChar char="✔"/>
            </a:pPr>
            <a:r>
              <a:rPr b="1" i="0" lang="es-ES" sz="1800" u="none" cap="none" strike="noStrike">
                <a:solidFill>
                  <a:srgbClr val="202529"/>
                </a:solidFill>
                <a:latin typeface="Arial"/>
                <a:ea typeface="Arial"/>
                <a:cs typeface="Arial"/>
                <a:sym typeface="Arial"/>
              </a:rPr>
              <a:t>Aumento de la Eficiencia Operativa</a:t>
            </a:r>
            <a:r>
              <a:rPr b="0" i="0" lang="es-ES" sz="1800" u="none" cap="none" strike="noStrike">
                <a:solidFill>
                  <a:srgbClr val="202529"/>
                </a:solidFill>
                <a:latin typeface="Arial"/>
                <a:ea typeface="Arial"/>
                <a:cs typeface="Arial"/>
                <a:sym typeface="Arial"/>
              </a:rPr>
              <a:t>: se pretende reducir la pérdida de eficiencia operativa un 2.5% en el periodo de un año.</a:t>
            </a:r>
            <a:endParaRPr b="0" i="0" sz="1800" u="none" cap="none" strike="noStrike">
              <a:solidFill>
                <a:schemeClr val="dk1"/>
              </a:solidFill>
              <a:latin typeface="Noto Sans Symbols"/>
              <a:ea typeface="Noto Sans Symbols"/>
              <a:cs typeface="Noto Sans Symbols"/>
              <a:sym typeface="Noto Sans Symbols"/>
            </a:endParaRPr>
          </a:p>
        </p:txBody>
      </p:sp>
      <p:sp>
        <p:nvSpPr>
          <p:cNvPr id="115" name="Google Shape;115;p4"/>
          <p:cNvSpPr/>
          <p:nvPr/>
        </p:nvSpPr>
        <p:spPr>
          <a:xfrm>
            <a:off x="716368" y="893134"/>
            <a:ext cx="10759263" cy="648586"/>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ES" sz="1800" u="none" cap="none" strike="noStrike">
                <a:solidFill>
                  <a:schemeClr val="lt1"/>
                </a:solidFill>
                <a:latin typeface="Arial"/>
                <a:ea typeface="Arial"/>
                <a:cs typeface="Arial"/>
                <a:sym typeface="Arial"/>
              </a:rPr>
              <a:t>Variable Objetivo (Y): "downtime_gross"</a:t>
            </a:r>
            <a:r>
              <a:rPr b="0" i="0" lang="es-ES" sz="1800" u="none" cap="none" strike="noStrike">
                <a:solidFill>
                  <a:schemeClr val="lt1"/>
                </a:solidFill>
                <a:latin typeface="Arial"/>
                <a:ea typeface="Arial"/>
                <a:cs typeface="Arial"/>
                <a:sym typeface="Arial"/>
              </a:rPr>
              <a:t>, es una variable cuantitativa continua, esta variable proporciona información sobre los minutos de paro generados por fallos en maquinaria de costura.</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p5"/>
          <p:cNvSpPr/>
          <p:nvPr/>
        </p:nvSpPr>
        <p:spPr>
          <a:xfrm flipH="1" rot="5400000">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5"/>
          <p:cNvSpPr/>
          <p:nvPr/>
        </p:nvSpPr>
        <p:spPr>
          <a:xfrm flipH="1" rot="5400000">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4" name="Google Shape;124;p5"/>
          <p:cNvSpPr/>
          <p:nvPr/>
        </p:nvSpPr>
        <p:spPr>
          <a:xfrm flipH="1" rot="5400000">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5" name="Google Shape;125;p5"/>
          <p:cNvSpPr/>
          <p:nvPr/>
        </p:nvSpPr>
        <p:spPr>
          <a:xfrm rot="-964587">
            <a:off x="-501737" y="969718"/>
            <a:ext cx="3900357" cy="417895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5"/>
          <p:cNvSpPr/>
          <p:nvPr/>
        </p:nvSpPr>
        <p:spPr>
          <a:xfrm flipH="1" rot="5400000">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7" name="Google Shape;127;p5"/>
          <p:cNvSpPr txBox="1"/>
          <p:nvPr>
            <p:ph type="title"/>
          </p:nvPr>
        </p:nvSpPr>
        <p:spPr>
          <a:xfrm>
            <a:off x="466722" y="586855"/>
            <a:ext cx="3201366" cy="338749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3400"/>
              <a:buFont typeface="Play"/>
              <a:buNone/>
            </a:pPr>
            <a:r>
              <a:rPr lang="es-ES" sz="3400">
                <a:solidFill>
                  <a:srgbClr val="FFFFFF"/>
                </a:solidFill>
              </a:rPr>
              <a:t>METODOLOGÍA</a:t>
            </a:r>
            <a:endParaRPr sz="3400">
              <a:solidFill>
                <a:srgbClr val="FFFFFF"/>
              </a:solidFill>
            </a:endParaRPr>
          </a:p>
        </p:txBody>
      </p:sp>
      <p:sp>
        <p:nvSpPr>
          <p:cNvPr id="128" name="Google Shape;128;p5"/>
          <p:cNvSpPr txBox="1"/>
          <p:nvPr>
            <p:ph idx="1" type="body"/>
          </p:nvPr>
        </p:nvSpPr>
        <p:spPr>
          <a:xfrm>
            <a:off x="4519022" y="511388"/>
            <a:ext cx="6915019" cy="5666260"/>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000"/>
              <a:buFont typeface="Arial"/>
              <a:buChar char="✔"/>
            </a:pPr>
            <a:r>
              <a:rPr lang="es-ES" sz="2000">
                <a:latin typeface="Arial"/>
                <a:ea typeface="Arial"/>
                <a:cs typeface="Arial"/>
                <a:sym typeface="Arial"/>
              </a:rPr>
              <a:t>Recopilación y Preprocesamiento de Datos.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Limpieza y preprocesamiento de datos para garantizar su calidad y consistencia.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Desarrollo de Modelos.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Entrenamiento y validación de los modelos.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Evaluación y Optimización.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Realización de check de comprobación de los datos.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Implementación y Prueba. </a:t>
            </a:r>
            <a:endParaRPr sz="2000">
              <a:latin typeface="Arial"/>
              <a:ea typeface="Arial"/>
              <a:cs typeface="Arial"/>
              <a:sym typeface="Arial"/>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Feedback y ajustes basados en los resultados obtenidos.</a:t>
            </a:r>
            <a:endParaRPr sz="2000">
              <a:latin typeface="Noto Sans Symbols"/>
              <a:ea typeface="Noto Sans Symbols"/>
              <a:cs typeface="Noto Sans Symbols"/>
              <a:sym typeface="Noto Sans Symbols"/>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Documentación y Presentación. </a:t>
            </a:r>
            <a:endParaRPr/>
          </a:p>
          <a:p>
            <a:pPr indent="-342900" lvl="0" marL="342900" marR="0" rtl="0" algn="l">
              <a:lnSpc>
                <a:spcPct val="90000"/>
              </a:lnSpc>
              <a:spcBef>
                <a:spcPts val="735"/>
              </a:spcBef>
              <a:spcAft>
                <a:spcPts val="0"/>
              </a:spcAft>
              <a:buClr>
                <a:schemeClr val="dk1"/>
              </a:buClr>
              <a:buSzPts val="2000"/>
              <a:buFont typeface="Arial"/>
              <a:buChar char="✔"/>
            </a:pPr>
            <a:r>
              <a:rPr lang="es-ES" sz="2000">
                <a:latin typeface="Arial"/>
                <a:ea typeface="Arial"/>
                <a:cs typeface="Arial"/>
                <a:sym typeface="Arial"/>
              </a:rPr>
              <a:t>Presentación de los hallazgos y recomendaciones a los departamentos interesados.</a:t>
            </a:r>
            <a:r>
              <a:rPr lang="es-ES" sz="2000">
                <a:latin typeface="Noto Sans Symbols"/>
                <a:ea typeface="Noto Sans Symbols"/>
                <a:cs typeface="Noto Sans Symbols"/>
                <a:sym typeface="Noto Sans Symbols"/>
              </a:rPr>
              <a:t> </a:t>
            </a:r>
            <a:endParaRPr sz="2000">
              <a:latin typeface="Noto Sans Symbols"/>
              <a:ea typeface="Noto Sans Symbols"/>
              <a:cs typeface="Noto Sans Symbols"/>
              <a:sym typeface="Noto Sans Symbol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0" y="318472"/>
            <a:ext cx="5433237" cy="840279"/>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s-ES">
                <a:solidFill>
                  <a:schemeClr val="lt1"/>
                </a:solidFill>
              </a:rPr>
              <a:t>PUNTO DE PARTIDA</a:t>
            </a:r>
            <a:endParaRPr>
              <a:solidFill>
                <a:schemeClr val="lt1"/>
              </a:solidFill>
            </a:endParaRPr>
          </a:p>
        </p:txBody>
      </p:sp>
      <p:sp>
        <p:nvSpPr>
          <p:cNvPr id="134" name="Google Shape;134;p6"/>
          <p:cNvSpPr txBox="1"/>
          <p:nvPr>
            <p:ph idx="1" type="body"/>
          </p:nvPr>
        </p:nvSpPr>
        <p:spPr>
          <a:xfrm>
            <a:off x="468945" y="1408756"/>
            <a:ext cx="6147391" cy="2020244"/>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just">
              <a:lnSpc>
                <a:spcPct val="150000"/>
              </a:lnSpc>
              <a:spcBef>
                <a:spcPts val="0"/>
              </a:spcBef>
              <a:spcAft>
                <a:spcPts val="0"/>
              </a:spcAft>
              <a:buClr>
                <a:srgbClr val="000000"/>
              </a:buClr>
              <a:buSzPct val="100000"/>
              <a:buNone/>
            </a:pPr>
            <a:r>
              <a:rPr b="1" lang="es-ES" sz="1800">
                <a:solidFill>
                  <a:srgbClr val="000000"/>
                </a:solidFill>
                <a:latin typeface="Arial"/>
                <a:ea typeface="Arial"/>
                <a:cs typeface="Arial"/>
                <a:sym typeface="Arial"/>
              </a:rPr>
              <a:t>Según datos del año 2024, el paro de máquina en la compañía ha sido de más de 31,000 horas</a:t>
            </a:r>
            <a:r>
              <a:rPr lang="es-ES" sz="1800">
                <a:solidFill>
                  <a:srgbClr val="000000"/>
                </a:solidFill>
                <a:latin typeface="Arial"/>
                <a:ea typeface="Arial"/>
                <a:cs typeface="Arial"/>
                <a:sym typeface="Arial"/>
              </a:rPr>
              <a:t>, de las cuales el top 3 de operaciones que generan mayor impacto son: </a:t>
            </a:r>
            <a:endParaRPr sz="1800">
              <a:latin typeface="Roboto"/>
              <a:ea typeface="Roboto"/>
              <a:cs typeface="Roboto"/>
              <a:sym typeface="Roboto"/>
            </a:endParaRPr>
          </a:p>
          <a:p>
            <a:pPr indent="-342900" lvl="0" marL="342900" marR="0" rtl="0" algn="just">
              <a:lnSpc>
                <a:spcPct val="150000"/>
              </a:lnSpc>
              <a:spcBef>
                <a:spcPts val="735"/>
              </a:spcBef>
              <a:spcAft>
                <a:spcPts val="0"/>
              </a:spcAft>
              <a:buClr>
                <a:srgbClr val="000000"/>
              </a:buClr>
              <a:buSzPct val="100000"/>
              <a:buFont typeface="Play"/>
              <a:buAutoNum type="arabicPeriod"/>
            </a:pPr>
            <a:r>
              <a:rPr lang="es-ES" sz="1800">
                <a:solidFill>
                  <a:srgbClr val="000000"/>
                </a:solidFill>
                <a:latin typeface="Arial"/>
                <a:ea typeface="Arial"/>
                <a:cs typeface="Arial"/>
                <a:sym typeface="Arial"/>
              </a:rPr>
              <a:t>Hem Sleeve </a:t>
            </a:r>
            <a:endParaRPr sz="1800">
              <a:solidFill>
                <a:srgbClr val="000000"/>
              </a:solidFill>
              <a:latin typeface="Roboto"/>
              <a:ea typeface="Roboto"/>
              <a:cs typeface="Roboto"/>
              <a:sym typeface="Roboto"/>
            </a:endParaRPr>
          </a:p>
          <a:p>
            <a:pPr indent="-342900" lvl="0" marL="342900" marR="0" rtl="0" algn="just">
              <a:lnSpc>
                <a:spcPct val="150000"/>
              </a:lnSpc>
              <a:spcBef>
                <a:spcPts val="735"/>
              </a:spcBef>
              <a:spcAft>
                <a:spcPts val="0"/>
              </a:spcAft>
              <a:buClr>
                <a:srgbClr val="000000"/>
              </a:buClr>
              <a:buSzPct val="100000"/>
              <a:buFont typeface="Play"/>
              <a:buAutoNum type="arabicPeriod"/>
            </a:pPr>
            <a:r>
              <a:rPr lang="es-ES" sz="1800">
                <a:solidFill>
                  <a:srgbClr val="000000"/>
                </a:solidFill>
                <a:latin typeface="Arial"/>
                <a:ea typeface="Arial"/>
                <a:cs typeface="Arial"/>
                <a:sym typeface="Arial"/>
              </a:rPr>
              <a:t>Hem Bottom </a:t>
            </a:r>
            <a:endParaRPr sz="1800">
              <a:solidFill>
                <a:srgbClr val="000000"/>
              </a:solidFill>
              <a:latin typeface="Roboto"/>
              <a:ea typeface="Roboto"/>
              <a:cs typeface="Roboto"/>
              <a:sym typeface="Roboto"/>
            </a:endParaRPr>
          </a:p>
          <a:p>
            <a:pPr indent="-342900" lvl="0" marL="342900" marR="0" rtl="0" algn="just">
              <a:lnSpc>
                <a:spcPct val="150000"/>
              </a:lnSpc>
              <a:spcBef>
                <a:spcPts val="735"/>
              </a:spcBef>
              <a:spcAft>
                <a:spcPts val="0"/>
              </a:spcAft>
              <a:buClr>
                <a:srgbClr val="000000"/>
              </a:buClr>
              <a:buSzPct val="100000"/>
              <a:buFont typeface="Play"/>
              <a:buAutoNum type="arabicPeriod"/>
            </a:pPr>
            <a:r>
              <a:rPr lang="es-ES" sz="1800">
                <a:solidFill>
                  <a:srgbClr val="000000"/>
                </a:solidFill>
                <a:latin typeface="Arial"/>
                <a:ea typeface="Arial"/>
                <a:cs typeface="Arial"/>
                <a:sym typeface="Arial"/>
              </a:rPr>
              <a:t>Hem Around</a:t>
            </a:r>
            <a:endParaRPr sz="1800">
              <a:solidFill>
                <a:srgbClr val="000000"/>
              </a:solidFill>
              <a:latin typeface="Roboto"/>
              <a:ea typeface="Roboto"/>
              <a:cs typeface="Roboto"/>
              <a:sym typeface="Roboto"/>
            </a:endParaRPr>
          </a:p>
        </p:txBody>
      </p:sp>
      <p:pic>
        <p:nvPicPr>
          <p:cNvPr descr="A graph with numbers and lines&#10;&#10;Description automatically generated" id="135" name="Google Shape;135;p6"/>
          <p:cNvPicPr preferRelativeResize="0"/>
          <p:nvPr/>
        </p:nvPicPr>
        <p:blipFill rotWithShape="1">
          <a:blip r:embed="rId3">
            <a:alphaModFix/>
          </a:blip>
          <a:srcRect b="0" l="0" r="0" t="0"/>
          <a:stretch/>
        </p:blipFill>
        <p:spPr>
          <a:xfrm>
            <a:off x="365939" y="3929010"/>
            <a:ext cx="7223494" cy="2276785"/>
          </a:xfrm>
          <a:prstGeom prst="rect">
            <a:avLst/>
          </a:prstGeom>
          <a:noFill/>
          <a:ln>
            <a:noFill/>
          </a:ln>
          <a:effectLst>
            <a:outerShdw blurRad="50800" rotWithShape="0" algn="tl" dir="2700000" dist="38100">
              <a:srgbClr val="000000">
                <a:alpha val="40000"/>
              </a:srgbClr>
            </a:outerShdw>
          </a:effectLst>
        </p:spPr>
      </p:pic>
      <p:sp>
        <p:nvSpPr>
          <p:cNvPr id="136" name="Google Shape;136;p6"/>
          <p:cNvSpPr txBox="1"/>
          <p:nvPr/>
        </p:nvSpPr>
        <p:spPr>
          <a:xfrm>
            <a:off x="7761766" y="3160553"/>
            <a:ext cx="4064295" cy="3332322"/>
          </a:xfrm>
          <a:prstGeom prst="rect">
            <a:avLst/>
          </a:prstGeom>
          <a:noFill/>
          <a:ln>
            <a:noFill/>
          </a:ln>
        </p:spPr>
        <p:txBody>
          <a:bodyPr anchorCtr="0" anchor="t" bIns="45700" lIns="91425" spcFirstLastPara="1" rIns="91425" wrap="square" tIns="45700">
            <a:spAutoFit/>
          </a:bodyPr>
          <a:lstStyle/>
          <a:p>
            <a:pPr indent="0" lvl="0" marL="0" marR="0" rtl="0" algn="just">
              <a:lnSpc>
                <a:spcPct val="170000"/>
              </a:lnSpc>
              <a:spcBef>
                <a:spcPts val="0"/>
              </a:spcBef>
              <a:spcAft>
                <a:spcPts val="0"/>
              </a:spcAft>
              <a:buClr>
                <a:srgbClr val="000000"/>
              </a:buClr>
              <a:buSzPts val="1800"/>
              <a:buFont typeface="Arial"/>
              <a:buNone/>
            </a:pPr>
            <a:r>
              <a:rPr b="0" i="0" lang="es-ES" sz="1800" u="none" cap="none" strike="noStrike">
                <a:solidFill>
                  <a:srgbClr val="000000"/>
                </a:solidFill>
                <a:latin typeface="Arial"/>
                <a:ea typeface="Arial"/>
                <a:cs typeface="Arial"/>
                <a:sym typeface="Arial"/>
              </a:rPr>
              <a:t>El dinero perdido por las plantas de FOTL ES por pago de Off Std por causa de máquina mala, es para el año 2024 un monto de $33,634.14, estos costos están asociados a pagos realizados al personal a causa de tiempos muertos.</a:t>
            </a:r>
            <a:endParaRPr b="0" i="0" sz="1800" u="none" cap="none" strike="noStrike">
              <a:solidFill>
                <a:schemeClr val="dk1"/>
              </a:solidFill>
              <a:latin typeface="Arial"/>
              <a:ea typeface="Arial"/>
              <a:cs typeface="Arial"/>
              <a:sym typeface="Arial"/>
            </a:endParaRPr>
          </a:p>
        </p:txBody>
      </p:sp>
      <p:pic>
        <p:nvPicPr>
          <p:cNvPr descr="A screenshot of a computer&#10;&#10;Description automatically generated" id="137" name="Google Shape;137;p6"/>
          <p:cNvPicPr preferRelativeResize="0"/>
          <p:nvPr/>
        </p:nvPicPr>
        <p:blipFill rotWithShape="1">
          <a:blip r:embed="rId4">
            <a:alphaModFix/>
          </a:blip>
          <a:srcRect b="0" l="0" r="0" t="0"/>
          <a:stretch/>
        </p:blipFill>
        <p:spPr>
          <a:xfrm>
            <a:off x="7091916" y="962811"/>
            <a:ext cx="4840470" cy="202024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ph idx="1" type="body"/>
          </p:nvPr>
        </p:nvSpPr>
        <p:spPr>
          <a:xfrm>
            <a:off x="487326" y="400862"/>
            <a:ext cx="10607749" cy="2363604"/>
          </a:xfrm>
          <a:prstGeom prst="rect">
            <a:avLst/>
          </a:prstGeom>
          <a:noFill/>
          <a:ln>
            <a:noFill/>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rgbClr val="000000"/>
              </a:buClr>
              <a:buSzPts val="1200"/>
              <a:buNone/>
            </a:pPr>
            <a:r>
              <a:rPr lang="es-ES" sz="1200">
                <a:solidFill>
                  <a:srgbClr val="000000"/>
                </a:solidFill>
                <a:latin typeface="Arial"/>
                <a:ea typeface="Arial"/>
                <a:cs typeface="Arial"/>
                <a:sym typeface="Arial"/>
              </a:rPr>
              <a:t>Para entender mejor el problema y el desempeño del equipo de mantenimiento, los indicadores relevantes a considerar son el MTBF (Mean Time Between Failures) y el MTTR (Mean Time To Repair). A continuación, se proporciona una explicación detallada de estos indicadores y cómo se aplican a la situación dada:</a:t>
            </a:r>
            <a:endParaRPr sz="1200">
              <a:latin typeface="Roboto"/>
              <a:ea typeface="Roboto"/>
              <a:cs typeface="Roboto"/>
              <a:sym typeface="Roboto"/>
            </a:endParaRPr>
          </a:p>
          <a:p>
            <a:pPr indent="-342900" lvl="0" marL="342900" marR="0" rtl="0" algn="just">
              <a:lnSpc>
                <a:spcPct val="150000"/>
              </a:lnSpc>
              <a:spcBef>
                <a:spcPts val="735"/>
              </a:spcBef>
              <a:spcAft>
                <a:spcPts val="0"/>
              </a:spcAft>
              <a:buClr>
                <a:srgbClr val="000000"/>
              </a:buClr>
              <a:buSzPts val="1200"/>
              <a:buFont typeface="Noto Sans Symbols"/>
              <a:buChar char="∙"/>
            </a:pPr>
            <a:r>
              <a:rPr b="1" lang="es-ES" sz="1200">
                <a:solidFill>
                  <a:srgbClr val="000000"/>
                </a:solidFill>
                <a:latin typeface="Arial"/>
                <a:ea typeface="Arial"/>
                <a:cs typeface="Arial"/>
                <a:sym typeface="Arial"/>
              </a:rPr>
              <a:t>MTBF (Mean Time Between Failures):</a:t>
            </a:r>
            <a:r>
              <a:rPr lang="es-ES" sz="1200">
                <a:solidFill>
                  <a:srgbClr val="000000"/>
                </a:solidFill>
                <a:latin typeface="Arial"/>
                <a:ea typeface="Arial"/>
                <a:cs typeface="Arial"/>
                <a:sym typeface="Arial"/>
              </a:rPr>
              <a:t> Es el tiempo promedio que transcurre entre una falla y la siguiente en un sistema o máquina. Un alto MTBF indica que la máquina es confiable y no falla con frecuencia. Es una medida de la confiabilidad del equipo.</a:t>
            </a:r>
            <a:endParaRPr sz="1200">
              <a:latin typeface="Arial"/>
              <a:ea typeface="Arial"/>
              <a:cs typeface="Arial"/>
              <a:sym typeface="Arial"/>
            </a:endParaRPr>
          </a:p>
          <a:p>
            <a:pPr indent="-342900" lvl="0" marL="342900" marR="0" rtl="0" algn="just">
              <a:lnSpc>
                <a:spcPct val="150000"/>
              </a:lnSpc>
              <a:spcBef>
                <a:spcPts val="735"/>
              </a:spcBef>
              <a:spcAft>
                <a:spcPts val="0"/>
              </a:spcAft>
              <a:buClr>
                <a:srgbClr val="000000"/>
              </a:buClr>
              <a:buSzPts val="1200"/>
              <a:buFont typeface="Noto Sans Symbols"/>
              <a:buChar char="∙"/>
            </a:pPr>
            <a:r>
              <a:rPr b="1" lang="es-ES" sz="1200">
                <a:solidFill>
                  <a:srgbClr val="000000"/>
                </a:solidFill>
                <a:latin typeface="Arial"/>
                <a:ea typeface="Arial"/>
                <a:cs typeface="Arial"/>
                <a:sym typeface="Arial"/>
              </a:rPr>
              <a:t>MTTR (Mean Time To Repair):</a:t>
            </a:r>
            <a:r>
              <a:rPr lang="es-ES" sz="1200">
                <a:solidFill>
                  <a:srgbClr val="000000"/>
                </a:solidFill>
                <a:latin typeface="Arial"/>
                <a:ea typeface="Arial"/>
                <a:cs typeface="Arial"/>
                <a:sym typeface="Arial"/>
              </a:rPr>
              <a:t> Es el tiempo promedio que se tarda en reparar una máquina después de que ha fallado. Un bajo MTTR indica que las reparaciones se realizan rápidamente, minimizando el tiempo de inactividad. Es una medida de la eficiencia del equipo de mantenimiento.</a:t>
            </a:r>
            <a:endParaRPr sz="1200">
              <a:latin typeface="Arial"/>
              <a:ea typeface="Arial"/>
              <a:cs typeface="Arial"/>
              <a:sym typeface="Arial"/>
            </a:endParaRPr>
          </a:p>
          <a:p>
            <a:pPr indent="-101600" lvl="0" marL="228600" rtl="0" algn="just">
              <a:lnSpc>
                <a:spcPct val="90000"/>
              </a:lnSpc>
              <a:spcBef>
                <a:spcPts val="1000"/>
              </a:spcBef>
              <a:spcAft>
                <a:spcPts val="0"/>
              </a:spcAft>
              <a:buClr>
                <a:schemeClr val="dk1"/>
              </a:buClr>
              <a:buSzPts val="2000"/>
              <a:buNone/>
            </a:pPr>
            <a:r>
              <a:t/>
            </a:r>
            <a:endParaRPr sz="2000"/>
          </a:p>
        </p:txBody>
      </p:sp>
      <p:pic>
        <p:nvPicPr>
          <p:cNvPr descr="A screenshot of a graph&#10;&#10;Description automatically generated" id="143" name="Google Shape;143;p7"/>
          <p:cNvPicPr preferRelativeResize="0"/>
          <p:nvPr/>
        </p:nvPicPr>
        <p:blipFill rotWithShape="1">
          <a:blip r:embed="rId3">
            <a:alphaModFix/>
          </a:blip>
          <a:srcRect b="0" l="0" r="0" t="0"/>
          <a:stretch/>
        </p:blipFill>
        <p:spPr>
          <a:xfrm>
            <a:off x="792125" y="2764466"/>
            <a:ext cx="9998150" cy="38277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0" y="280067"/>
            <a:ext cx="4752665" cy="868249"/>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Font typeface="Play"/>
              <a:buNone/>
            </a:pPr>
            <a:r>
              <a:rPr lang="es-ES" sz="3200">
                <a:solidFill>
                  <a:schemeClr val="lt1"/>
                </a:solidFill>
              </a:rPr>
              <a:t>SELECCIÓN DEL DATASET</a:t>
            </a:r>
            <a:endParaRPr sz="3200">
              <a:solidFill>
                <a:schemeClr val="lt1"/>
              </a:solidFill>
            </a:endParaRPr>
          </a:p>
        </p:txBody>
      </p:sp>
      <p:sp>
        <p:nvSpPr>
          <p:cNvPr id="149" name="Google Shape;149;p8"/>
          <p:cNvSpPr txBox="1"/>
          <p:nvPr>
            <p:ph idx="1" type="body"/>
          </p:nvPr>
        </p:nvSpPr>
        <p:spPr>
          <a:xfrm>
            <a:off x="292573" y="1552466"/>
            <a:ext cx="5289520" cy="240284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None/>
            </a:pPr>
            <a:r>
              <a:rPr lang="es-ES" sz="2400">
                <a:latin typeface="Roboto"/>
                <a:ea typeface="Roboto"/>
                <a:cs typeface="Roboto"/>
                <a:sym typeface="Roboto"/>
              </a:rPr>
              <a:t>Se cuenta con un registro de aproximadamente </a:t>
            </a:r>
            <a:r>
              <a:rPr b="1" lang="es-ES" sz="2400">
                <a:solidFill>
                  <a:schemeClr val="accent1"/>
                </a:solidFill>
                <a:latin typeface="Roboto"/>
                <a:ea typeface="Roboto"/>
                <a:cs typeface="Roboto"/>
                <a:sym typeface="Roboto"/>
              </a:rPr>
              <a:t>149,066 órdenes de trabajo ingresadas en el sistema EAM</a:t>
            </a:r>
            <a:r>
              <a:rPr lang="es-ES" sz="2400">
                <a:latin typeface="Roboto"/>
                <a:ea typeface="Roboto"/>
                <a:cs typeface="Roboto"/>
                <a:sym typeface="Roboto"/>
              </a:rPr>
              <a:t>, el dataset cuenta con 18 variables las cuales se detallan en el siguiente cuadro:</a:t>
            </a:r>
            <a:endParaRPr sz="2400">
              <a:latin typeface="Roboto"/>
              <a:ea typeface="Roboto"/>
              <a:cs typeface="Roboto"/>
              <a:sym typeface="Roboto"/>
            </a:endParaRPr>
          </a:p>
        </p:txBody>
      </p:sp>
      <p:pic>
        <p:nvPicPr>
          <p:cNvPr id="150" name="Google Shape;150;p8"/>
          <p:cNvPicPr preferRelativeResize="0"/>
          <p:nvPr/>
        </p:nvPicPr>
        <p:blipFill rotWithShape="1">
          <a:blip r:embed="rId3">
            <a:alphaModFix/>
          </a:blip>
          <a:srcRect b="0" l="0" r="0" t="0"/>
          <a:stretch/>
        </p:blipFill>
        <p:spPr>
          <a:xfrm>
            <a:off x="6096000" y="479018"/>
            <a:ext cx="5289520" cy="6176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ph type="title"/>
          </p:nvPr>
        </p:nvSpPr>
        <p:spPr>
          <a:xfrm>
            <a:off x="-3800" y="229601"/>
            <a:ext cx="5952900" cy="982200"/>
          </a:xfrm>
          <a:prstGeom prst="rect">
            <a:avLst/>
          </a:prstGeom>
          <a:solidFill>
            <a:srgbClr val="0A304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
              <a:buNone/>
            </a:pPr>
            <a:r>
              <a:rPr lang="es-ES">
                <a:solidFill>
                  <a:schemeClr val="lt1"/>
                </a:solidFill>
              </a:rPr>
              <a:t>LIMPIEZA DEL DATASET</a:t>
            </a:r>
            <a:endParaRPr>
              <a:solidFill>
                <a:schemeClr val="lt1"/>
              </a:solidFill>
            </a:endParaRPr>
          </a:p>
        </p:txBody>
      </p:sp>
      <p:sp>
        <p:nvSpPr>
          <p:cNvPr id="156" name="Google Shape;156;p9"/>
          <p:cNvSpPr/>
          <p:nvPr/>
        </p:nvSpPr>
        <p:spPr>
          <a:xfrm>
            <a:off x="467833" y="1370889"/>
            <a:ext cx="5295000" cy="531600"/>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Identificación de valores faltantes</a:t>
            </a:r>
            <a:endParaRPr b="0" i="0" sz="1800" u="none" cap="none" strike="noStrike">
              <a:solidFill>
                <a:schemeClr val="lt1"/>
              </a:solidFill>
              <a:latin typeface="Arial"/>
              <a:ea typeface="Arial"/>
              <a:cs typeface="Arial"/>
              <a:sym typeface="Arial"/>
            </a:endParaRPr>
          </a:p>
        </p:txBody>
      </p:sp>
      <p:sp>
        <p:nvSpPr>
          <p:cNvPr id="157" name="Google Shape;157;p9"/>
          <p:cNvSpPr txBox="1"/>
          <p:nvPr/>
        </p:nvSpPr>
        <p:spPr>
          <a:xfrm>
            <a:off x="467833" y="1953423"/>
            <a:ext cx="6097800" cy="1159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1600" u="none" cap="none" strike="noStrike">
                <a:solidFill>
                  <a:srgbClr val="000000"/>
                </a:solidFill>
                <a:highlight>
                  <a:srgbClr val="FFFFFF"/>
                </a:highlight>
                <a:latin typeface="Roboto"/>
                <a:ea typeface="Roboto"/>
                <a:cs typeface="Roboto"/>
                <a:sym typeface="Roboto"/>
              </a:rPr>
              <a:t>No se encontraron valores faltantes, se concluye que existe fiabilidad suficiente para continuar con el análisis, por otra parte, se validó que no existen datos duplicados.</a:t>
            </a:r>
            <a:endParaRPr b="0" i="0" sz="1600" u="none" cap="none" strike="noStrike">
              <a:solidFill>
                <a:schemeClr val="dk1"/>
              </a:solidFill>
              <a:highlight>
                <a:srgbClr val="FFFFFF"/>
              </a:highlight>
              <a:latin typeface="Roboto"/>
              <a:ea typeface="Roboto"/>
              <a:cs typeface="Roboto"/>
              <a:sym typeface="Roboto"/>
            </a:endParaRPr>
          </a:p>
        </p:txBody>
      </p:sp>
      <p:sp>
        <p:nvSpPr>
          <p:cNvPr id="158" name="Google Shape;158;p9"/>
          <p:cNvSpPr/>
          <p:nvPr/>
        </p:nvSpPr>
        <p:spPr>
          <a:xfrm>
            <a:off x="6821795" y="1774838"/>
            <a:ext cx="2003100" cy="766200"/>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9" name="Google Shape;159;p9"/>
          <p:cNvSpPr txBox="1"/>
          <p:nvPr>
            <p:ph idx="1" type="body"/>
          </p:nvPr>
        </p:nvSpPr>
        <p:spPr>
          <a:xfrm>
            <a:off x="416060" y="4020467"/>
            <a:ext cx="8263200" cy="2422800"/>
          </a:xfrm>
          <a:prstGeom prst="rect">
            <a:avLst/>
          </a:prstGeom>
          <a:noFill/>
          <a:ln>
            <a:noFill/>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rgbClr val="000000"/>
              </a:buClr>
              <a:buSzPts val="1600"/>
              <a:buNone/>
            </a:pPr>
            <a:r>
              <a:rPr lang="es-ES" sz="1600">
                <a:solidFill>
                  <a:srgbClr val="000000"/>
                </a:solidFill>
                <a:highlight>
                  <a:srgbClr val="FFFFFF"/>
                </a:highlight>
                <a:latin typeface="Roboto"/>
                <a:ea typeface="Roboto"/>
                <a:cs typeface="Roboto"/>
                <a:sym typeface="Roboto"/>
              </a:rPr>
              <a:t>Se identificaron errores donde las horas de downtime_gross son negativas, los datos negativos no tienen sentido pues la variable indica el tiempo de paro de la maquinaria textil, estos errores representan un </a:t>
            </a:r>
            <a:r>
              <a:rPr b="1" lang="es-ES" sz="1600">
                <a:solidFill>
                  <a:srgbClr val="000000"/>
                </a:solidFill>
                <a:highlight>
                  <a:srgbClr val="FFFFFF"/>
                </a:highlight>
                <a:latin typeface="Roboto"/>
                <a:ea typeface="Roboto"/>
                <a:cs typeface="Roboto"/>
                <a:sym typeface="Roboto"/>
              </a:rPr>
              <a:t>1.47%</a:t>
            </a:r>
            <a:r>
              <a:rPr lang="es-ES" sz="1600">
                <a:solidFill>
                  <a:srgbClr val="000000"/>
                </a:solidFill>
                <a:highlight>
                  <a:srgbClr val="FFFFFF"/>
                </a:highlight>
                <a:latin typeface="Roboto"/>
                <a:ea typeface="Roboto"/>
                <a:cs typeface="Roboto"/>
                <a:sym typeface="Roboto"/>
              </a:rPr>
              <a:t> de un dataset conformado por </a:t>
            </a:r>
            <a:r>
              <a:rPr b="1" lang="es-ES" sz="1600">
                <a:solidFill>
                  <a:srgbClr val="000000"/>
                </a:solidFill>
                <a:highlight>
                  <a:srgbClr val="FFFFFF"/>
                </a:highlight>
                <a:latin typeface="Roboto"/>
                <a:ea typeface="Roboto"/>
                <a:cs typeface="Roboto"/>
                <a:sym typeface="Roboto"/>
              </a:rPr>
              <a:t>149,066</a:t>
            </a:r>
            <a:r>
              <a:rPr lang="es-ES" sz="1600">
                <a:solidFill>
                  <a:srgbClr val="000000"/>
                </a:solidFill>
                <a:highlight>
                  <a:srgbClr val="FFFFFF"/>
                </a:highlight>
                <a:latin typeface="Roboto"/>
                <a:ea typeface="Roboto"/>
                <a:cs typeface="Roboto"/>
                <a:sym typeface="Roboto"/>
              </a:rPr>
              <a:t> instancias por lo que, se decidió eliminar los datos con esta característica. Los valores negativos de downtime_gross no pueden ser considerados outliers válidos, ya que son resultado de errores en la captura o procesamiento de datos.</a:t>
            </a:r>
            <a:endParaRPr sz="2400"/>
          </a:p>
        </p:txBody>
      </p:sp>
      <p:sp>
        <p:nvSpPr>
          <p:cNvPr id="160" name="Google Shape;160;p9"/>
          <p:cNvSpPr/>
          <p:nvPr/>
        </p:nvSpPr>
        <p:spPr>
          <a:xfrm>
            <a:off x="467833" y="3437933"/>
            <a:ext cx="5295000" cy="531600"/>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Eliminación de valores erróneos</a:t>
            </a:r>
            <a:endParaRPr b="0" i="0" sz="1800" u="none" cap="none" strike="noStrike">
              <a:solidFill>
                <a:schemeClr val="lt1"/>
              </a:solidFill>
              <a:latin typeface="Arial"/>
              <a:ea typeface="Arial"/>
              <a:cs typeface="Arial"/>
              <a:sym typeface="Arial"/>
            </a:endParaRPr>
          </a:p>
        </p:txBody>
      </p:sp>
      <p:pic>
        <p:nvPicPr>
          <p:cNvPr id="161" name="Google Shape;161;p9"/>
          <p:cNvPicPr preferRelativeResize="0"/>
          <p:nvPr/>
        </p:nvPicPr>
        <p:blipFill>
          <a:blip r:embed="rId3">
            <a:alphaModFix/>
          </a:blip>
          <a:stretch>
            <a:fillRect/>
          </a:stretch>
        </p:blipFill>
        <p:spPr>
          <a:xfrm>
            <a:off x="8977423" y="152400"/>
            <a:ext cx="2809875" cy="5505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txBox="1"/>
          <p:nvPr/>
        </p:nvSpPr>
        <p:spPr>
          <a:xfrm>
            <a:off x="412011" y="934314"/>
            <a:ext cx="10943561" cy="8771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1800" u="none" cap="none" strike="noStrike">
                <a:solidFill>
                  <a:srgbClr val="000000"/>
                </a:solidFill>
                <a:highlight>
                  <a:srgbClr val="FFFFFF"/>
                </a:highlight>
                <a:latin typeface="Roboto"/>
                <a:ea typeface="Roboto"/>
                <a:cs typeface="Roboto"/>
                <a:sym typeface="Roboto"/>
              </a:rPr>
              <a:t>Se identificaron 8 variables que no eran relevantes para el análisis y modelado predictivo. Las columnas eliminadas fueron</a:t>
            </a:r>
            <a:endParaRPr b="0" i="0" sz="1800" u="none" cap="none" strike="noStrike">
              <a:solidFill>
                <a:schemeClr val="dk1"/>
              </a:solidFill>
              <a:highlight>
                <a:srgbClr val="FFFFFF"/>
              </a:highlight>
              <a:latin typeface="Roboto"/>
              <a:ea typeface="Roboto"/>
              <a:cs typeface="Roboto"/>
              <a:sym typeface="Roboto"/>
            </a:endParaRPr>
          </a:p>
        </p:txBody>
      </p:sp>
      <p:sp>
        <p:nvSpPr>
          <p:cNvPr id="167" name="Google Shape;167;p10"/>
          <p:cNvSpPr/>
          <p:nvPr/>
        </p:nvSpPr>
        <p:spPr>
          <a:xfrm>
            <a:off x="326951" y="219592"/>
            <a:ext cx="5295014" cy="53162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lt1"/>
                </a:solidFill>
                <a:latin typeface="Arial"/>
                <a:ea typeface="Arial"/>
                <a:cs typeface="Arial"/>
                <a:sym typeface="Arial"/>
              </a:rPr>
              <a:t>Eliminación de variables irrelevantes</a:t>
            </a:r>
            <a:endParaRPr b="0" i="0" sz="1800" u="none" cap="none" strike="noStrike">
              <a:solidFill>
                <a:schemeClr val="lt1"/>
              </a:solidFill>
              <a:latin typeface="Arial"/>
              <a:ea typeface="Arial"/>
              <a:cs typeface="Arial"/>
              <a:sym typeface="Arial"/>
            </a:endParaRPr>
          </a:p>
        </p:txBody>
      </p:sp>
      <p:sp>
        <p:nvSpPr>
          <p:cNvPr id="168" name="Google Shape;168;p10"/>
          <p:cNvSpPr/>
          <p:nvPr/>
        </p:nvSpPr>
        <p:spPr>
          <a:xfrm>
            <a:off x="412011" y="2041452"/>
            <a:ext cx="6807497" cy="1169581"/>
          </a:xfrm>
          <a:prstGeom prst="roundRect">
            <a:avLst>
              <a:gd fmla="val 16667" name="adj"/>
            </a:avLst>
          </a:prstGeom>
          <a:solidFill>
            <a:srgbClr val="D9E5F8"/>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1" i="0" lang="es-ES" sz="1600" u="none" cap="none" strike="noStrike">
                <a:solidFill>
                  <a:schemeClr val="dk1"/>
                </a:solidFill>
                <a:latin typeface="Arial"/>
                <a:ea typeface="Arial"/>
                <a:cs typeface="Arial"/>
                <a:sym typeface="Arial"/>
              </a:rPr>
              <a:t>problem_code, failure_code, cause_code, action_code: </a:t>
            </a:r>
            <a:r>
              <a:rPr b="0" i="0" lang="es-ES" sz="1600" u="none" cap="none" strike="noStrike">
                <a:solidFill>
                  <a:schemeClr val="dk1"/>
                </a:solidFill>
                <a:latin typeface="Arial"/>
                <a:ea typeface="Arial"/>
                <a:cs typeface="Arial"/>
                <a:sym typeface="Arial"/>
              </a:rPr>
              <a:t>Estas columnas contienen códigos categóricos que duplican la información ya presente en las columnas descriptivas problem_desc, failure_desc, cause_desc, y action_desc.</a:t>
            </a:r>
            <a:endParaRPr/>
          </a:p>
        </p:txBody>
      </p:sp>
      <p:sp>
        <p:nvSpPr>
          <p:cNvPr id="169" name="Google Shape;169;p10"/>
          <p:cNvSpPr/>
          <p:nvPr/>
        </p:nvSpPr>
        <p:spPr>
          <a:xfrm>
            <a:off x="412010" y="3441009"/>
            <a:ext cx="6807497" cy="758852"/>
          </a:xfrm>
          <a:prstGeom prst="roundRect">
            <a:avLst>
              <a:gd fmla="val 16667" name="adj"/>
            </a:avLst>
          </a:prstGeom>
          <a:solidFill>
            <a:srgbClr val="D9E5F8"/>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1" i="0" lang="es-ES" sz="1600" u="none" cap="none" strike="noStrike">
                <a:solidFill>
                  <a:schemeClr val="dk1"/>
                </a:solidFill>
                <a:latin typeface="Arial"/>
                <a:ea typeface="Arial"/>
                <a:cs typeface="Arial"/>
                <a:sym typeface="Arial"/>
              </a:rPr>
              <a:t>real_downtime: </a:t>
            </a:r>
            <a:r>
              <a:rPr b="0" i="0" lang="es-ES" sz="1600" u="none" cap="none" strike="noStrike">
                <a:solidFill>
                  <a:schemeClr val="dk1"/>
                </a:solidFill>
                <a:latin typeface="Arial"/>
                <a:ea typeface="Arial"/>
                <a:cs typeface="Arial"/>
                <a:sym typeface="Arial"/>
              </a:rPr>
              <a:t>La columna real_downtime se consideró redundante y confusa.</a:t>
            </a:r>
            <a:endParaRPr/>
          </a:p>
        </p:txBody>
      </p:sp>
      <p:sp>
        <p:nvSpPr>
          <p:cNvPr id="170" name="Google Shape;170;p10"/>
          <p:cNvSpPr txBox="1"/>
          <p:nvPr/>
        </p:nvSpPr>
        <p:spPr>
          <a:xfrm>
            <a:off x="8037328" y="2284522"/>
            <a:ext cx="3742661"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1" lang="es-ES" sz="1800" u="none" cap="none" strike="noStrike">
                <a:solidFill>
                  <a:srgbClr val="000000"/>
                </a:solidFill>
                <a:latin typeface="Arial"/>
                <a:ea typeface="Arial"/>
                <a:cs typeface="Arial"/>
                <a:sym typeface="Arial"/>
              </a:rPr>
              <a:t>              La redundancia se refiere         	a cuando dos o más variables están altamente correlacionadas y proporcionan información similar al modelo y una variable de confusión es aquella que distorsiona la relación entre dos variables principales, afectando la interpretación de su asociación.</a:t>
            </a:r>
            <a:endParaRPr b="0" i="1" sz="1800" u="none" cap="none" strike="noStrike">
              <a:solidFill>
                <a:schemeClr val="dk1"/>
              </a:solidFill>
              <a:latin typeface="Arial"/>
              <a:ea typeface="Arial"/>
              <a:cs typeface="Arial"/>
              <a:sym typeface="Arial"/>
            </a:endParaRPr>
          </a:p>
        </p:txBody>
      </p:sp>
      <p:pic>
        <p:nvPicPr>
          <p:cNvPr descr="Lights On with solid fill" id="171" name="Google Shape;171;p10"/>
          <p:cNvPicPr preferRelativeResize="0"/>
          <p:nvPr/>
        </p:nvPicPr>
        <p:blipFill rotWithShape="1">
          <a:blip r:embed="rId3">
            <a:alphaModFix/>
          </a:blip>
          <a:srcRect b="0" l="0" r="0" t="0"/>
          <a:stretch/>
        </p:blipFill>
        <p:spPr>
          <a:xfrm>
            <a:off x="7909738" y="1961603"/>
            <a:ext cx="914400" cy="914400"/>
          </a:xfrm>
          <a:prstGeom prst="rect">
            <a:avLst/>
          </a:prstGeom>
          <a:noFill/>
          <a:ln>
            <a:noFill/>
          </a:ln>
        </p:spPr>
      </p:pic>
      <p:grpSp>
        <p:nvGrpSpPr>
          <p:cNvPr id="172" name="Google Shape;172;p10"/>
          <p:cNvGrpSpPr/>
          <p:nvPr/>
        </p:nvGrpSpPr>
        <p:grpSpPr>
          <a:xfrm>
            <a:off x="1038320" y="4468298"/>
            <a:ext cx="5554875" cy="2038828"/>
            <a:chOff x="0" y="0"/>
            <a:chExt cx="4069715" cy="1256030"/>
          </a:xfrm>
        </p:grpSpPr>
        <p:pic>
          <p:nvPicPr>
            <p:cNvPr descr="A screenshot of a computer&#10;&#10;Description automatically generated" id="173" name="Google Shape;173;p10"/>
            <p:cNvPicPr preferRelativeResize="0"/>
            <p:nvPr/>
          </p:nvPicPr>
          <p:blipFill rotWithShape="1">
            <a:blip r:embed="rId4">
              <a:alphaModFix/>
            </a:blip>
            <a:srcRect b="0" l="0" r="0" t="0"/>
            <a:stretch/>
          </p:blipFill>
          <p:spPr>
            <a:xfrm>
              <a:off x="0" y="0"/>
              <a:ext cx="4069715" cy="1256030"/>
            </a:xfrm>
            <a:prstGeom prst="rect">
              <a:avLst/>
            </a:prstGeom>
            <a:noFill/>
            <a:ln>
              <a:noFill/>
            </a:ln>
          </p:spPr>
        </p:pic>
        <p:sp>
          <p:nvSpPr>
            <p:cNvPr id="174" name="Google Shape;174;p10"/>
            <p:cNvSpPr/>
            <p:nvPr/>
          </p:nvSpPr>
          <p:spPr>
            <a:xfrm>
              <a:off x="2242268" y="302150"/>
              <a:ext cx="516835" cy="159026"/>
            </a:xfrm>
            <a:prstGeom prst="rect">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p:nvPr/>
        </p:nvSpPr>
        <p:spPr>
          <a:xfrm>
            <a:off x="401378" y="527688"/>
            <a:ext cx="5694621" cy="1256030"/>
          </a:xfrm>
          <a:prstGeom prst="roundRect">
            <a:avLst>
              <a:gd fmla="val 16667" name="adj"/>
            </a:avLst>
          </a:prstGeom>
          <a:solidFill>
            <a:srgbClr val="D9E5F8"/>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s-ES" sz="1600">
                <a:solidFill>
                  <a:schemeClr val="dk1"/>
                </a:solidFill>
                <a:latin typeface="Arial"/>
                <a:ea typeface="Arial"/>
                <a:cs typeface="Arial"/>
                <a:sym typeface="Arial"/>
              </a:rPr>
              <a:t>real_downtime: </a:t>
            </a:r>
            <a:r>
              <a:rPr lang="es-ES" sz="1600">
                <a:solidFill>
                  <a:schemeClr val="dk1"/>
                </a:solidFill>
                <a:latin typeface="Arial"/>
                <a:ea typeface="Arial"/>
                <a:cs typeface="Arial"/>
                <a:sym typeface="Arial"/>
              </a:rPr>
              <a:t>Esta variable proporciona la misma información que la variable downtime hours, se realizó un análisis de correlación obteniendo que ambas variables tienen una correlación lineal positiva perfecta lo que podría implicar un problema de colinealidad.</a:t>
            </a:r>
            <a:endParaRPr/>
          </a:p>
        </p:txBody>
      </p:sp>
      <p:grpSp>
        <p:nvGrpSpPr>
          <p:cNvPr id="180" name="Google Shape;180;p11"/>
          <p:cNvGrpSpPr/>
          <p:nvPr/>
        </p:nvGrpSpPr>
        <p:grpSpPr>
          <a:xfrm>
            <a:off x="6464595" y="408659"/>
            <a:ext cx="5326027" cy="1856075"/>
            <a:chOff x="0" y="0"/>
            <a:chExt cx="4069715" cy="1256030"/>
          </a:xfrm>
        </p:grpSpPr>
        <p:pic>
          <p:nvPicPr>
            <p:cNvPr descr="A screenshot of a computer&#10;&#10;Description automatically generated" id="181" name="Google Shape;181;p11"/>
            <p:cNvPicPr preferRelativeResize="0"/>
            <p:nvPr/>
          </p:nvPicPr>
          <p:blipFill rotWithShape="1">
            <a:blip r:embed="rId3">
              <a:alphaModFix/>
            </a:blip>
            <a:srcRect b="0" l="0" r="0" t="0"/>
            <a:stretch/>
          </p:blipFill>
          <p:spPr>
            <a:xfrm>
              <a:off x="0" y="0"/>
              <a:ext cx="4069715" cy="1256030"/>
            </a:xfrm>
            <a:prstGeom prst="rect">
              <a:avLst/>
            </a:prstGeom>
            <a:noFill/>
            <a:ln>
              <a:noFill/>
            </a:ln>
          </p:spPr>
        </p:pic>
        <p:sp>
          <p:nvSpPr>
            <p:cNvPr id="182" name="Google Shape;182;p11"/>
            <p:cNvSpPr/>
            <p:nvPr/>
          </p:nvSpPr>
          <p:spPr>
            <a:xfrm>
              <a:off x="2846567" y="286247"/>
              <a:ext cx="516255" cy="158750"/>
            </a:xfrm>
            <a:prstGeom prst="rect">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
        <p:nvSpPr>
          <p:cNvPr id="183" name="Google Shape;183;p11"/>
          <p:cNvSpPr/>
          <p:nvPr/>
        </p:nvSpPr>
        <p:spPr>
          <a:xfrm>
            <a:off x="401378" y="2710591"/>
            <a:ext cx="5295014" cy="53162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Arial"/>
                <a:ea typeface="Arial"/>
                <a:cs typeface="Arial"/>
                <a:sym typeface="Arial"/>
              </a:rPr>
              <a:t>Identificación de valores faltantes</a:t>
            </a:r>
            <a:endParaRPr sz="1800">
              <a:solidFill>
                <a:schemeClr val="lt1"/>
              </a:solidFill>
              <a:latin typeface="Arial"/>
              <a:ea typeface="Arial"/>
              <a:cs typeface="Arial"/>
              <a:sym typeface="Arial"/>
            </a:endParaRPr>
          </a:p>
        </p:txBody>
      </p:sp>
      <p:sp>
        <p:nvSpPr>
          <p:cNvPr id="184" name="Google Shape;184;p11"/>
          <p:cNvSpPr txBox="1"/>
          <p:nvPr/>
        </p:nvSpPr>
        <p:spPr>
          <a:xfrm>
            <a:off x="401377" y="3522761"/>
            <a:ext cx="9788513" cy="8771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Se corrigió la inconsistencia en los nombres de los mecánicos, unificando las diferentes variantes del nombre de un mismo mecánico.</a:t>
            </a:r>
            <a:endParaRPr sz="1800">
              <a:solidFill>
                <a:schemeClr val="dk1"/>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txBox="1"/>
          <p:nvPr>
            <p:ph type="title"/>
          </p:nvPr>
        </p:nvSpPr>
        <p:spPr>
          <a:xfrm>
            <a:off x="0" y="187749"/>
            <a:ext cx="6911164" cy="1006585"/>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ANÁLISIS DE VARIABLE OBJETIVO</a:t>
            </a:r>
            <a:endParaRPr sz="3600">
              <a:solidFill>
                <a:schemeClr val="lt1"/>
              </a:solidFill>
            </a:endParaRPr>
          </a:p>
        </p:txBody>
      </p:sp>
      <p:sp>
        <p:nvSpPr>
          <p:cNvPr id="190" name="Google Shape;190;p12"/>
          <p:cNvSpPr txBox="1"/>
          <p:nvPr/>
        </p:nvSpPr>
        <p:spPr>
          <a:xfrm>
            <a:off x="269358" y="1313958"/>
            <a:ext cx="11653283" cy="199541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400">
                <a:solidFill>
                  <a:srgbClr val="000000"/>
                </a:solidFill>
                <a:highlight>
                  <a:srgbClr val="FFFFFF"/>
                </a:highlight>
                <a:latin typeface="Roboto"/>
                <a:ea typeface="Roboto"/>
                <a:cs typeface="Roboto"/>
                <a:sym typeface="Roboto"/>
              </a:rPr>
              <a:t>La variable objetivo a predecir es downtime_gross, este es el tiempo de paro de maquinaria de costura registrado en órdenes de trabajo por el departamento de mecánica, </a:t>
            </a:r>
            <a:r>
              <a:rPr b="1" lang="es-ES" sz="1400">
                <a:solidFill>
                  <a:srgbClr val="000000"/>
                </a:solidFill>
                <a:highlight>
                  <a:srgbClr val="FFFFFF"/>
                </a:highlight>
                <a:latin typeface="Roboto"/>
                <a:ea typeface="Roboto"/>
                <a:cs typeface="Roboto"/>
                <a:sym typeface="Roboto"/>
              </a:rPr>
              <a:t>notar que esta variable se convirtió a minutos para facilidad de interpretación,</a:t>
            </a:r>
            <a:r>
              <a:rPr lang="es-ES" sz="1400">
                <a:solidFill>
                  <a:srgbClr val="000000"/>
                </a:solidFill>
                <a:highlight>
                  <a:srgbClr val="FFFFFF"/>
                </a:highlight>
                <a:latin typeface="Roboto"/>
                <a:ea typeface="Roboto"/>
                <a:cs typeface="Roboto"/>
                <a:sym typeface="Roboto"/>
              </a:rPr>
              <a:t> la variable downtime_gross muestra una distribución con tiempos de inactividad que varían ampliamente, desde 0.00 hasta 835.00 minutos. </a:t>
            </a:r>
            <a:r>
              <a:rPr b="1" lang="es-ES" sz="1400">
                <a:solidFill>
                  <a:srgbClr val="000000"/>
                </a:solidFill>
                <a:highlight>
                  <a:srgbClr val="FFFFFF"/>
                </a:highlight>
                <a:latin typeface="Roboto"/>
                <a:ea typeface="Roboto"/>
                <a:cs typeface="Roboto"/>
                <a:sym typeface="Roboto"/>
              </a:rPr>
              <a:t>La mediana es 50.00 minutos,</a:t>
            </a:r>
            <a:r>
              <a:rPr lang="es-ES" sz="1400">
                <a:solidFill>
                  <a:srgbClr val="000000"/>
                </a:solidFill>
                <a:highlight>
                  <a:srgbClr val="FFFFFF"/>
                </a:highlight>
                <a:latin typeface="Roboto"/>
                <a:ea typeface="Roboto"/>
                <a:cs typeface="Roboto"/>
                <a:sym typeface="Roboto"/>
              </a:rPr>
              <a:t> mientras que </a:t>
            </a:r>
            <a:r>
              <a:rPr b="1" lang="es-ES" sz="1400">
                <a:solidFill>
                  <a:srgbClr val="000000"/>
                </a:solidFill>
                <a:highlight>
                  <a:srgbClr val="FFFFFF"/>
                </a:highlight>
                <a:latin typeface="Roboto"/>
                <a:ea typeface="Roboto"/>
                <a:cs typeface="Roboto"/>
                <a:sym typeface="Roboto"/>
              </a:rPr>
              <a:t>la media es más alta, 87.97 minutos, indicando que los datos están sesgados hacia la derecha por algunos valores atípicos.</a:t>
            </a:r>
            <a:r>
              <a:rPr lang="es-ES" sz="1400">
                <a:solidFill>
                  <a:srgbClr val="000000"/>
                </a:solidFill>
                <a:highlight>
                  <a:srgbClr val="FFFFFF"/>
                </a:highlight>
                <a:latin typeface="Roboto"/>
                <a:ea typeface="Roboto"/>
                <a:cs typeface="Roboto"/>
                <a:sym typeface="Roboto"/>
              </a:rPr>
              <a:t> El primer cuartil es 25.00 minutos y el tercer cuartil es 110.00 minutos, sugiriendo que el 75% de los registros tienen tiempos de inactividad menores o iguales a 110.00 minutos.</a:t>
            </a:r>
            <a:endParaRPr sz="1400">
              <a:solidFill>
                <a:schemeClr val="dk1"/>
              </a:solidFill>
              <a:highlight>
                <a:srgbClr val="FFFFFF"/>
              </a:highlight>
              <a:latin typeface="Roboto"/>
              <a:ea typeface="Roboto"/>
              <a:cs typeface="Roboto"/>
              <a:sym typeface="Roboto"/>
            </a:endParaRPr>
          </a:p>
        </p:txBody>
      </p:sp>
      <p:pic>
        <p:nvPicPr>
          <p:cNvPr descr="A graph showing a green line&#10;&#10;Description automatically generated" id="191" name="Google Shape;191;p12"/>
          <p:cNvPicPr preferRelativeResize="0"/>
          <p:nvPr/>
        </p:nvPicPr>
        <p:blipFill rotWithShape="1">
          <a:blip r:embed="rId3">
            <a:alphaModFix/>
          </a:blip>
          <a:srcRect b="0" l="0" r="0" t="0"/>
          <a:stretch/>
        </p:blipFill>
        <p:spPr>
          <a:xfrm>
            <a:off x="1928683" y="3474194"/>
            <a:ext cx="8650712" cy="3241251"/>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nvSpPr>
        <p:spPr>
          <a:xfrm>
            <a:off x="518337" y="607068"/>
            <a:ext cx="6371561" cy="212365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Se realizó un gráfico de caja de la variable downtime_gross, se visualiza una alta frecuencia de outliers, por este motivo se decidió analizar si estos datos atípicos siguen un patrón temporal, es decir, se analizó si hay meses donde la cantidad de datos atípicos incrementa.</a:t>
            </a:r>
            <a:endParaRPr sz="1800">
              <a:solidFill>
                <a:schemeClr val="dk1"/>
              </a:solidFill>
              <a:highlight>
                <a:srgbClr val="FFFFFF"/>
              </a:highlight>
              <a:latin typeface="Roboto"/>
              <a:ea typeface="Roboto"/>
              <a:cs typeface="Roboto"/>
              <a:sym typeface="Roboto"/>
            </a:endParaRPr>
          </a:p>
        </p:txBody>
      </p:sp>
      <p:pic>
        <p:nvPicPr>
          <p:cNvPr descr="A graph with a line&#10;&#10;Description automatically generated" id="197" name="Google Shape;197;p13"/>
          <p:cNvPicPr preferRelativeResize="0"/>
          <p:nvPr/>
        </p:nvPicPr>
        <p:blipFill rotWithShape="1">
          <a:blip r:embed="rId3">
            <a:alphaModFix/>
          </a:blip>
          <a:srcRect b="0" l="0" r="0" t="0"/>
          <a:stretch/>
        </p:blipFill>
        <p:spPr>
          <a:xfrm>
            <a:off x="7363755" y="133576"/>
            <a:ext cx="4426866" cy="3337611"/>
          </a:xfrm>
          <a:prstGeom prst="rect">
            <a:avLst/>
          </a:prstGeom>
          <a:noFill/>
          <a:ln>
            <a:noFill/>
          </a:ln>
          <a:effectLst>
            <a:outerShdw blurRad="50800" rotWithShape="0" algn="tl" dir="2700000" dist="38100">
              <a:srgbClr val="000000">
                <a:alpha val="40000"/>
              </a:srgbClr>
            </a:outerShdw>
          </a:effectLst>
        </p:spPr>
      </p:pic>
      <p:sp>
        <p:nvSpPr>
          <p:cNvPr id="198" name="Google Shape;198;p13"/>
          <p:cNvSpPr txBox="1"/>
          <p:nvPr/>
        </p:nvSpPr>
        <p:spPr>
          <a:xfrm>
            <a:off x="518337" y="4127274"/>
            <a:ext cx="6097772" cy="212365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Se identifica que los datos atípicos en cuanto a tiempo elevado de paro el primer semestre del año, a partir de julio estos outliers se ven reducidos, esto puede ser debido a que el mantenimiento preventivo de los equipos se programa prácticamente a mitad de año.</a:t>
            </a:r>
            <a:endParaRPr sz="1800">
              <a:solidFill>
                <a:schemeClr val="dk1"/>
              </a:solidFill>
              <a:highlight>
                <a:srgbClr val="FFFFFF"/>
              </a:highlight>
              <a:latin typeface="Roboto"/>
              <a:ea typeface="Roboto"/>
              <a:cs typeface="Roboto"/>
              <a:sym typeface="Roboto"/>
            </a:endParaRPr>
          </a:p>
        </p:txBody>
      </p:sp>
      <p:pic>
        <p:nvPicPr>
          <p:cNvPr id="199" name="Google Shape;199;p13"/>
          <p:cNvPicPr preferRelativeResize="0"/>
          <p:nvPr/>
        </p:nvPicPr>
        <p:blipFill rotWithShape="1">
          <a:blip r:embed="rId4">
            <a:alphaModFix/>
          </a:blip>
          <a:srcRect b="0" l="0" r="0" t="0"/>
          <a:stretch/>
        </p:blipFill>
        <p:spPr>
          <a:xfrm>
            <a:off x="7363755" y="3944679"/>
            <a:ext cx="4390361" cy="277974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nvSpPr>
        <p:spPr>
          <a:xfrm>
            <a:off x="412012" y="372141"/>
            <a:ext cx="6097772" cy="253915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Tras realizar el análisis de los datos atípicos por el número de la desviación típica se identifica que en general ellos están en el rango de tres a seis sigmas. Es decir, en el rango del tiempo es desde 5 horas 14 minutos (3*sigma = 3*104.55) hasta 10 horas 27 minutos (6*sigma = 6*104.55).</a:t>
            </a:r>
            <a:endParaRPr sz="1800">
              <a:solidFill>
                <a:schemeClr val="dk1"/>
              </a:solidFill>
              <a:highlight>
                <a:srgbClr val="FFFFFF"/>
              </a:highlight>
              <a:latin typeface="Roboto"/>
              <a:ea typeface="Roboto"/>
              <a:cs typeface="Roboto"/>
              <a:sym typeface="Roboto"/>
            </a:endParaRPr>
          </a:p>
        </p:txBody>
      </p:sp>
      <p:pic>
        <p:nvPicPr>
          <p:cNvPr id="205" name="Google Shape;205;p14"/>
          <p:cNvPicPr preferRelativeResize="0"/>
          <p:nvPr/>
        </p:nvPicPr>
        <p:blipFill rotWithShape="1">
          <a:blip r:embed="rId3">
            <a:alphaModFix/>
          </a:blip>
          <a:srcRect b="0" l="0" r="0" t="0"/>
          <a:stretch/>
        </p:blipFill>
        <p:spPr>
          <a:xfrm>
            <a:off x="5922336" y="3136604"/>
            <a:ext cx="5581206" cy="334925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0" y="373351"/>
            <a:ext cx="8548500" cy="838500"/>
          </a:xfrm>
          <a:prstGeom prst="rect">
            <a:avLst/>
          </a:prstGeom>
          <a:solidFill>
            <a:srgbClr val="0A304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ANÁLISIS DE VARIABLES INDEPENDIENTES</a:t>
            </a:r>
            <a:endParaRPr sz="3600">
              <a:solidFill>
                <a:schemeClr val="lt1"/>
              </a:solidFill>
            </a:endParaRPr>
          </a:p>
        </p:txBody>
      </p:sp>
      <p:sp>
        <p:nvSpPr>
          <p:cNvPr id="211" name="Google Shape;211;p15"/>
          <p:cNvSpPr txBox="1"/>
          <p:nvPr/>
        </p:nvSpPr>
        <p:spPr>
          <a:xfrm>
            <a:off x="571499" y="1401195"/>
            <a:ext cx="10762808" cy="923330"/>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rgbClr val="000000"/>
                </a:solidFill>
                <a:latin typeface="Arial"/>
                <a:ea typeface="Arial"/>
                <a:cs typeface="Arial"/>
                <a:sym typeface="Arial"/>
              </a:rPr>
              <a:t>waiting_hours:</a:t>
            </a:r>
            <a:r>
              <a:rPr lang="es-ES" sz="1800">
                <a:solidFill>
                  <a:srgbClr val="000000"/>
                </a:solidFill>
                <a:latin typeface="Arial"/>
                <a:ea typeface="Arial"/>
                <a:cs typeface="Arial"/>
                <a:sym typeface="Arial"/>
              </a:rPr>
              <a:t> Esta variable hace referencia a los tiempos de espera de los asociados de costura para que el mecánico llegue a la unidad a resolver el problema de maquinaria, la media de tiempo mientras no se realiza el mantenimiento correctivo es de 0.5 horas, la mediana es cero horas,</a:t>
            </a:r>
            <a:endParaRPr sz="1800">
              <a:solidFill>
                <a:schemeClr val="dk1"/>
              </a:solidFill>
              <a:latin typeface="Arial"/>
              <a:ea typeface="Arial"/>
              <a:cs typeface="Arial"/>
              <a:sym typeface="Arial"/>
            </a:endParaRPr>
          </a:p>
        </p:txBody>
      </p:sp>
      <p:pic>
        <p:nvPicPr>
          <p:cNvPr descr="A graph with a blue line&#10;&#10;Description automatically generated" id="212" name="Google Shape;212;p15"/>
          <p:cNvPicPr preferRelativeResize="0"/>
          <p:nvPr/>
        </p:nvPicPr>
        <p:blipFill rotWithShape="1">
          <a:blip r:embed="rId3">
            <a:alphaModFix/>
          </a:blip>
          <a:srcRect b="0" l="0" r="0" t="0"/>
          <a:stretch/>
        </p:blipFill>
        <p:spPr>
          <a:xfrm>
            <a:off x="3297999" y="3128425"/>
            <a:ext cx="5165517" cy="2810101"/>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nvSpPr>
        <p:spPr>
          <a:xfrm>
            <a:off x="645926" y="542008"/>
            <a:ext cx="10667115" cy="1200329"/>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rgbClr val="000000"/>
                </a:solidFill>
                <a:latin typeface="Arial"/>
                <a:ea typeface="Arial"/>
                <a:cs typeface="Arial"/>
                <a:sym typeface="Arial"/>
              </a:rPr>
              <a:t>Operation: </a:t>
            </a:r>
            <a:r>
              <a:rPr lang="es-ES" sz="1800">
                <a:solidFill>
                  <a:srgbClr val="000000"/>
                </a:solidFill>
                <a:latin typeface="Arial"/>
                <a:ea typeface="Arial"/>
                <a:cs typeface="Arial"/>
                <a:sym typeface="Arial"/>
              </a:rPr>
              <a:t>Existen 25 operaciones diferentes; para el análisis se calculó la frecuencia relativa de los fallos de maquinaria para cada operación, obteniendo que, </a:t>
            </a:r>
            <a:r>
              <a:rPr b="1" lang="es-ES" sz="1800">
                <a:solidFill>
                  <a:srgbClr val="000000"/>
                </a:solidFill>
                <a:latin typeface="Arial"/>
                <a:ea typeface="Arial"/>
                <a:cs typeface="Arial"/>
                <a:sym typeface="Arial"/>
              </a:rPr>
              <a:t>las dos operaciones con más fallos son, Hem Sleeve con un 28.2% y Hem Bottom con un 11.7%,</a:t>
            </a:r>
            <a:r>
              <a:rPr lang="es-ES" sz="1800">
                <a:solidFill>
                  <a:srgbClr val="000000"/>
                </a:solidFill>
                <a:latin typeface="Arial"/>
                <a:ea typeface="Arial"/>
                <a:cs typeface="Arial"/>
                <a:sym typeface="Arial"/>
              </a:rPr>
              <a:t> notar que en la</a:t>
            </a:r>
            <a:r>
              <a:rPr b="1" lang="es-ES" sz="1800">
                <a:solidFill>
                  <a:srgbClr val="000000"/>
                </a:solidFill>
                <a:latin typeface="Arial"/>
                <a:ea typeface="Arial"/>
                <a:cs typeface="Arial"/>
                <a:sym typeface="Arial"/>
              </a:rPr>
              <a:t> </a:t>
            </a:r>
            <a:r>
              <a:rPr lang="es-ES" sz="1800">
                <a:solidFill>
                  <a:srgbClr val="000000"/>
                </a:solidFill>
                <a:latin typeface="Arial"/>
                <a:ea typeface="Arial"/>
                <a:cs typeface="Arial"/>
                <a:sym typeface="Arial"/>
              </a:rPr>
              <a:t>categoría “otros” se han agrupado las operaciones con una frecuencia relativa menor al 3%.</a:t>
            </a:r>
            <a:endParaRPr sz="1800">
              <a:solidFill>
                <a:schemeClr val="dk1"/>
              </a:solidFill>
              <a:latin typeface="Arial"/>
              <a:ea typeface="Arial"/>
              <a:cs typeface="Arial"/>
              <a:sym typeface="Arial"/>
            </a:endParaRPr>
          </a:p>
        </p:txBody>
      </p:sp>
      <p:pic>
        <p:nvPicPr>
          <p:cNvPr descr="A graph with blue bars&#10;&#10;Description automatically generated" id="218" name="Google Shape;218;p16"/>
          <p:cNvPicPr preferRelativeResize="0"/>
          <p:nvPr/>
        </p:nvPicPr>
        <p:blipFill rotWithShape="1">
          <a:blip r:embed="rId3">
            <a:alphaModFix/>
          </a:blip>
          <a:srcRect b="0" l="0" r="0" t="0"/>
          <a:stretch/>
        </p:blipFill>
        <p:spPr>
          <a:xfrm>
            <a:off x="504004" y="2023286"/>
            <a:ext cx="7909163" cy="452905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nvSpPr>
        <p:spPr>
          <a:xfrm>
            <a:off x="401379" y="553191"/>
            <a:ext cx="4096193" cy="2031325"/>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rgbClr val="000000"/>
                </a:solidFill>
                <a:latin typeface="Arial"/>
                <a:ea typeface="Arial"/>
                <a:cs typeface="Arial"/>
                <a:sym typeface="Arial"/>
              </a:rPr>
              <a:t>problem_desc: </a:t>
            </a:r>
            <a:r>
              <a:rPr lang="es-ES" sz="1800">
                <a:solidFill>
                  <a:srgbClr val="000000"/>
                </a:solidFill>
                <a:latin typeface="Arial"/>
                <a:ea typeface="Arial"/>
                <a:cs typeface="Arial"/>
                <a:sym typeface="Arial"/>
              </a:rPr>
              <a:t>Son los problemas de maquinaria reportados en </a:t>
            </a:r>
            <a:r>
              <a:rPr lang="es-ES" sz="1800">
                <a:solidFill>
                  <a:schemeClr val="dk1"/>
                </a:solidFill>
                <a:latin typeface="Arial"/>
                <a:ea typeface="Arial"/>
                <a:cs typeface="Arial"/>
                <a:sym typeface="Arial"/>
              </a:rPr>
              <a:t>órdenes</a:t>
            </a:r>
            <a:r>
              <a:rPr lang="es-ES" sz="1800">
                <a:solidFill>
                  <a:srgbClr val="000000"/>
                </a:solidFill>
                <a:latin typeface="Arial"/>
                <a:ea typeface="Arial"/>
                <a:cs typeface="Arial"/>
                <a:sym typeface="Arial"/>
              </a:rPr>
              <a:t> de trabajo, para su análisis, se calculó la frecuencia relativa de los problemas, obteniendo que </a:t>
            </a:r>
            <a:r>
              <a:rPr b="1" lang="es-ES" sz="1800">
                <a:solidFill>
                  <a:srgbClr val="000000"/>
                </a:solidFill>
                <a:latin typeface="Arial"/>
                <a:ea typeface="Arial"/>
                <a:cs typeface="Arial"/>
                <a:sym typeface="Arial"/>
              </a:rPr>
              <a:t>los principales son, Cose con defecto con 69.94% y No cose con un 23.5%.</a:t>
            </a:r>
            <a:endParaRPr sz="1800">
              <a:solidFill>
                <a:schemeClr val="dk1"/>
              </a:solidFill>
              <a:latin typeface="Arial"/>
              <a:ea typeface="Arial"/>
              <a:cs typeface="Arial"/>
              <a:sym typeface="Arial"/>
            </a:endParaRPr>
          </a:p>
        </p:txBody>
      </p:sp>
      <p:sp>
        <p:nvSpPr>
          <p:cNvPr id="224" name="Google Shape;224;p17"/>
          <p:cNvSpPr txBox="1"/>
          <p:nvPr/>
        </p:nvSpPr>
        <p:spPr>
          <a:xfrm>
            <a:off x="401379" y="3429000"/>
            <a:ext cx="4287579" cy="2735172"/>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1800">
                <a:solidFill>
                  <a:srgbClr val="000000"/>
                </a:solidFill>
                <a:latin typeface="Arial"/>
                <a:ea typeface="Arial"/>
                <a:cs typeface="Arial"/>
                <a:sym typeface="Arial"/>
              </a:rPr>
              <a:t>failure_desc:</a:t>
            </a:r>
            <a:r>
              <a:rPr lang="es-ES" sz="1800">
                <a:solidFill>
                  <a:srgbClr val="000000"/>
                </a:solidFill>
                <a:latin typeface="Arial"/>
                <a:ea typeface="Arial"/>
                <a:cs typeface="Arial"/>
                <a:sym typeface="Arial"/>
              </a:rPr>
              <a:t> </a:t>
            </a:r>
            <a:r>
              <a:rPr lang="es-ES" sz="1400">
                <a:solidFill>
                  <a:srgbClr val="000000"/>
                </a:solidFill>
                <a:latin typeface="Arial"/>
                <a:ea typeface="Arial"/>
                <a:cs typeface="Arial"/>
                <a:sym typeface="Arial"/>
              </a:rPr>
              <a:t>Se realizó un análisis de la frecuencia relativa, obteniendo que, </a:t>
            </a:r>
            <a:r>
              <a:rPr b="1" lang="es-ES" sz="1400">
                <a:solidFill>
                  <a:srgbClr val="000000"/>
                </a:solidFill>
                <a:latin typeface="Arial"/>
                <a:ea typeface="Arial"/>
                <a:cs typeface="Arial"/>
                <a:sym typeface="Arial"/>
              </a:rPr>
              <a:t>la</a:t>
            </a:r>
            <a:r>
              <a:rPr lang="es-ES" sz="1400">
                <a:solidFill>
                  <a:srgbClr val="000000"/>
                </a:solidFill>
                <a:latin typeface="Arial"/>
                <a:ea typeface="Arial"/>
                <a:cs typeface="Arial"/>
                <a:sym typeface="Arial"/>
              </a:rPr>
              <a:t> </a:t>
            </a:r>
            <a:r>
              <a:rPr b="1" lang="es-ES" sz="1400">
                <a:solidFill>
                  <a:srgbClr val="000000"/>
                </a:solidFill>
                <a:latin typeface="Arial"/>
                <a:ea typeface="Arial"/>
                <a:cs typeface="Arial"/>
                <a:sym typeface="Arial"/>
              </a:rPr>
              <a:t>falla del cabezal dejando de coser es la más frecuente, representando casi la mitad de todos los fallos registrados con un 47.1%, esta es una falla crítica que detiene completamente el proceso de costura y luego se tiene la falla del cabezal cosiendo con defecto con un 27.1%.</a:t>
            </a:r>
            <a:endParaRPr sz="1100">
              <a:solidFill>
                <a:schemeClr val="dk1"/>
              </a:solidFill>
              <a:latin typeface="Noto Sans Symbols"/>
              <a:ea typeface="Noto Sans Symbols"/>
              <a:cs typeface="Noto Sans Symbols"/>
              <a:sym typeface="Noto Sans Symbols"/>
            </a:endParaRPr>
          </a:p>
        </p:txBody>
      </p:sp>
      <p:pic>
        <p:nvPicPr>
          <p:cNvPr descr="A graph with blue rectangles&#10;&#10;Description automatically generated" id="225" name="Google Shape;225;p17"/>
          <p:cNvPicPr preferRelativeResize="0"/>
          <p:nvPr/>
        </p:nvPicPr>
        <p:blipFill rotWithShape="1">
          <a:blip r:embed="rId3">
            <a:alphaModFix/>
          </a:blip>
          <a:srcRect b="0" l="0" r="0" t="0"/>
          <a:stretch/>
        </p:blipFill>
        <p:spPr>
          <a:xfrm>
            <a:off x="4884397" y="440280"/>
            <a:ext cx="7180012" cy="2965983"/>
          </a:xfrm>
          <a:prstGeom prst="rect">
            <a:avLst/>
          </a:prstGeom>
          <a:noFill/>
          <a:ln>
            <a:noFill/>
          </a:ln>
          <a:effectLst>
            <a:outerShdw blurRad="50800" rotWithShape="0" algn="tl" dir="2700000" dist="38100">
              <a:srgbClr val="000000">
                <a:alpha val="40000"/>
              </a:srgbClr>
            </a:outerShdw>
          </a:effectLst>
        </p:spPr>
      </p:pic>
      <p:pic>
        <p:nvPicPr>
          <p:cNvPr descr="A graph with blue rectangles&#10;&#10;Description automatically generated" id="226" name="Google Shape;226;p17"/>
          <p:cNvPicPr preferRelativeResize="0"/>
          <p:nvPr/>
        </p:nvPicPr>
        <p:blipFill rotWithShape="1">
          <a:blip r:embed="rId4">
            <a:alphaModFix/>
          </a:blip>
          <a:srcRect b="0" l="0" r="0" t="0"/>
          <a:stretch/>
        </p:blipFill>
        <p:spPr>
          <a:xfrm>
            <a:off x="4884397" y="3646764"/>
            <a:ext cx="7180012" cy="294881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txBox="1"/>
          <p:nvPr/>
        </p:nvSpPr>
        <p:spPr>
          <a:xfrm>
            <a:off x="699090" y="509833"/>
            <a:ext cx="10964825" cy="1200329"/>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rgbClr val="000000"/>
                </a:solidFill>
                <a:latin typeface="Arial"/>
                <a:ea typeface="Arial"/>
                <a:cs typeface="Arial"/>
                <a:sym typeface="Arial"/>
              </a:rPr>
              <a:t>cause_desc: </a:t>
            </a:r>
            <a:r>
              <a:rPr lang="es-ES" sz="1800">
                <a:solidFill>
                  <a:srgbClr val="000000"/>
                </a:solidFill>
                <a:latin typeface="Arial"/>
                <a:ea typeface="Arial"/>
                <a:cs typeface="Arial"/>
                <a:sym typeface="Arial"/>
              </a:rPr>
              <a:t>Se han reportado 29 causas de fallo diferentes, para el análisis se calculó la frecuencia relativa de cada una de ellas, identificando que la principal causa de fallo es</a:t>
            </a:r>
            <a:r>
              <a:rPr b="1" lang="es-ES" sz="1800">
                <a:solidFill>
                  <a:srgbClr val="000000"/>
                </a:solidFill>
                <a:latin typeface="Arial"/>
                <a:ea typeface="Arial"/>
                <a:cs typeface="Arial"/>
                <a:sym typeface="Arial"/>
              </a:rPr>
              <a:t> el enlazador de cabezal desajustado, el cual representa un 37.5% del total de causas,</a:t>
            </a:r>
            <a:r>
              <a:rPr lang="es-ES" sz="1800">
                <a:solidFill>
                  <a:srgbClr val="000000"/>
                </a:solidFill>
                <a:latin typeface="Arial"/>
                <a:ea typeface="Arial"/>
                <a:cs typeface="Arial"/>
                <a:sym typeface="Arial"/>
              </a:rPr>
              <a:t> notar que en la</a:t>
            </a:r>
            <a:r>
              <a:rPr b="1" lang="es-ES" sz="1800">
                <a:solidFill>
                  <a:srgbClr val="000000"/>
                </a:solidFill>
                <a:latin typeface="Arial"/>
                <a:ea typeface="Arial"/>
                <a:cs typeface="Arial"/>
                <a:sym typeface="Arial"/>
              </a:rPr>
              <a:t> </a:t>
            </a:r>
            <a:r>
              <a:rPr lang="es-ES" sz="1800">
                <a:solidFill>
                  <a:srgbClr val="000000"/>
                </a:solidFill>
                <a:latin typeface="Arial"/>
                <a:ea typeface="Arial"/>
                <a:cs typeface="Arial"/>
                <a:sym typeface="Arial"/>
              </a:rPr>
              <a:t>categoría “otros” se han agrupado las operaciones con una frecuencia relativa menor al 3%.</a:t>
            </a:r>
            <a:endParaRPr sz="1800">
              <a:solidFill>
                <a:schemeClr val="dk1"/>
              </a:solidFill>
              <a:latin typeface="Arial"/>
              <a:ea typeface="Arial"/>
              <a:cs typeface="Arial"/>
              <a:sym typeface="Arial"/>
            </a:endParaRPr>
          </a:p>
        </p:txBody>
      </p:sp>
      <p:pic>
        <p:nvPicPr>
          <p:cNvPr descr="A graph with blue squares&#10;&#10;Description automatically generated" id="232" name="Google Shape;232;p18"/>
          <p:cNvPicPr preferRelativeResize="0"/>
          <p:nvPr/>
        </p:nvPicPr>
        <p:blipFill rotWithShape="1">
          <a:blip r:embed="rId3">
            <a:alphaModFix/>
          </a:blip>
          <a:srcRect b="0" l="0" r="0" t="0"/>
          <a:stretch/>
        </p:blipFill>
        <p:spPr>
          <a:xfrm>
            <a:off x="1985278" y="2149679"/>
            <a:ext cx="8392448" cy="4511221"/>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9"/>
          <p:cNvSpPr txBox="1"/>
          <p:nvPr/>
        </p:nvSpPr>
        <p:spPr>
          <a:xfrm>
            <a:off x="644993" y="228600"/>
            <a:ext cx="11146513" cy="1160511"/>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1600">
                <a:solidFill>
                  <a:srgbClr val="000000"/>
                </a:solidFill>
                <a:latin typeface="Arial"/>
                <a:ea typeface="Arial"/>
                <a:cs typeface="Arial"/>
                <a:sym typeface="Arial"/>
              </a:rPr>
              <a:t>action_desc: </a:t>
            </a:r>
            <a:r>
              <a:rPr lang="es-ES" sz="1600">
                <a:solidFill>
                  <a:srgbClr val="000000"/>
                </a:solidFill>
                <a:latin typeface="Arial"/>
                <a:ea typeface="Arial"/>
                <a:cs typeface="Arial"/>
                <a:sym typeface="Arial"/>
              </a:rPr>
              <a:t>Se han reportado 29 acciones correctivas en </a:t>
            </a:r>
            <a:r>
              <a:rPr lang="es-ES" sz="1600">
                <a:solidFill>
                  <a:schemeClr val="dk1"/>
                </a:solidFill>
                <a:latin typeface="Arial"/>
                <a:ea typeface="Arial"/>
                <a:cs typeface="Arial"/>
                <a:sym typeface="Arial"/>
              </a:rPr>
              <a:t>órdenes</a:t>
            </a:r>
            <a:r>
              <a:rPr lang="es-ES" sz="1600">
                <a:solidFill>
                  <a:srgbClr val="000000"/>
                </a:solidFill>
                <a:latin typeface="Arial"/>
                <a:ea typeface="Arial"/>
                <a:cs typeface="Arial"/>
                <a:sym typeface="Arial"/>
              </a:rPr>
              <a:t> de trabajo, </a:t>
            </a:r>
            <a:r>
              <a:rPr b="1" lang="es-ES" sz="1600">
                <a:solidFill>
                  <a:srgbClr val="000000"/>
                </a:solidFill>
                <a:latin typeface="Arial"/>
                <a:ea typeface="Arial"/>
                <a:cs typeface="Arial"/>
                <a:sym typeface="Arial"/>
              </a:rPr>
              <a:t>la acción correctiva más frecuente es ajustar el enlazador de cabezal, que representa el 33.1% del total de acciones correctivas,</a:t>
            </a:r>
            <a:r>
              <a:rPr lang="es-ES" sz="1600">
                <a:solidFill>
                  <a:srgbClr val="000000"/>
                </a:solidFill>
                <a:latin typeface="Arial"/>
                <a:ea typeface="Arial"/>
                <a:cs typeface="Arial"/>
                <a:sym typeface="Arial"/>
              </a:rPr>
              <a:t> notar que en la</a:t>
            </a:r>
            <a:r>
              <a:rPr b="1" lang="es-ES" sz="1600">
                <a:solidFill>
                  <a:srgbClr val="000000"/>
                </a:solidFill>
                <a:latin typeface="Arial"/>
                <a:ea typeface="Arial"/>
                <a:cs typeface="Arial"/>
                <a:sym typeface="Arial"/>
              </a:rPr>
              <a:t> </a:t>
            </a:r>
            <a:r>
              <a:rPr lang="es-ES" sz="1600">
                <a:solidFill>
                  <a:srgbClr val="000000"/>
                </a:solidFill>
                <a:latin typeface="Arial"/>
                <a:ea typeface="Arial"/>
                <a:cs typeface="Arial"/>
                <a:sym typeface="Arial"/>
              </a:rPr>
              <a:t>categoría “otros” se han agrupado las operaciones con una frecuencia relativa menor al 3%.</a:t>
            </a:r>
            <a:endParaRPr sz="1600">
              <a:solidFill>
                <a:schemeClr val="dk1"/>
              </a:solidFill>
              <a:latin typeface="Noto Sans Symbols"/>
              <a:ea typeface="Noto Sans Symbols"/>
              <a:cs typeface="Noto Sans Symbols"/>
              <a:sym typeface="Noto Sans Symbols"/>
            </a:endParaRPr>
          </a:p>
        </p:txBody>
      </p:sp>
      <p:pic>
        <p:nvPicPr>
          <p:cNvPr descr="A graph with blue bars&#10;&#10;Description automatically generated" id="238" name="Google Shape;238;p19"/>
          <p:cNvPicPr preferRelativeResize="0"/>
          <p:nvPr/>
        </p:nvPicPr>
        <p:blipFill rotWithShape="1">
          <a:blip r:embed="rId3">
            <a:alphaModFix/>
          </a:blip>
          <a:srcRect b="0" l="0" r="0" t="0"/>
          <a:stretch/>
        </p:blipFill>
        <p:spPr>
          <a:xfrm>
            <a:off x="1922432" y="1738236"/>
            <a:ext cx="8347135" cy="442333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nvSpPr>
        <p:spPr>
          <a:xfrm>
            <a:off x="505855" y="837234"/>
            <a:ext cx="11432657" cy="923330"/>
          </a:xfrm>
          <a:prstGeom prst="rect">
            <a:avLst/>
          </a:prstGeom>
          <a:solidFill>
            <a:srgbClr val="D9E5F8"/>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rgbClr val="000000"/>
                </a:solidFill>
                <a:latin typeface="Arial"/>
                <a:ea typeface="Arial"/>
                <a:cs typeface="Arial"/>
                <a:sym typeface="Arial"/>
              </a:rPr>
              <a:t>parts_cost: </a:t>
            </a:r>
            <a:r>
              <a:rPr lang="es-ES" sz="1800">
                <a:solidFill>
                  <a:srgbClr val="000000"/>
                </a:solidFill>
                <a:latin typeface="Arial"/>
                <a:ea typeface="Arial"/>
                <a:cs typeface="Arial"/>
                <a:sym typeface="Arial"/>
              </a:rPr>
              <a:t>Esta variable hace referencia al costo de las partes utilizadas para ejecutar las acciones correctivas en la maquinaria, esta variable puede tomar el valor de cero si el reemplazo de piezas se realiza con piezas en existencia de otras máquinas</a:t>
            </a:r>
            <a:endParaRPr sz="1800">
              <a:solidFill>
                <a:schemeClr val="dk1"/>
              </a:solidFill>
              <a:latin typeface="Arial"/>
              <a:ea typeface="Arial"/>
              <a:cs typeface="Arial"/>
              <a:sym typeface="Arial"/>
            </a:endParaRPr>
          </a:p>
        </p:txBody>
      </p:sp>
      <p:pic>
        <p:nvPicPr>
          <p:cNvPr descr="A graph with a blue bar&#10;&#10;Description automatically generated" id="244" name="Google Shape;244;p20"/>
          <p:cNvPicPr preferRelativeResize="0"/>
          <p:nvPr/>
        </p:nvPicPr>
        <p:blipFill rotWithShape="1">
          <a:blip r:embed="rId3">
            <a:alphaModFix/>
          </a:blip>
          <a:srcRect b="0" l="0" r="0" t="0"/>
          <a:stretch/>
        </p:blipFill>
        <p:spPr>
          <a:xfrm>
            <a:off x="440365" y="2814815"/>
            <a:ext cx="5529453" cy="3010712"/>
          </a:xfrm>
          <a:prstGeom prst="rect">
            <a:avLst/>
          </a:prstGeom>
          <a:noFill/>
          <a:ln>
            <a:noFill/>
          </a:ln>
          <a:effectLst>
            <a:outerShdw blurRad="50800" rotWithShape="0" algn="tl" dir="2700000" dist="38100">
              <a:srgbClr val="000000">
                <a:alpha val="40000"/>
              </a:srgbClr>
            </a:outerShdw>
          </a:effectLst>
        </p:spPr>
      </p:pic>
      <p:sp>
        <p:nvSpPr>
          <p:cNvPr id="245" name="Google Shape;245;p20"/>
          <p:cNvSpPr txBox="1"/>
          <p:nvPr/>
        </p:nvSpPr>
        <p:spPr>
          <a:xfrm>
            <a:off x="6222184" y="2814815"/>
            <a:ext cx="5739808" cy="1754326"/>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La media de costo de partes es de $12.11, </a:t>
            </a:r>
            <a:endParaRPr/>
          </a:p>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La mediana es $0, </a:t>
            </a:r>
            <a:endParaRPr/>
          </a:p>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La desviación estándar es 41.74. </a:t>
            </a:r>
            <a:endParaRPr/>
          </a:p>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Curtosis de 746.647</a:t>
            </a:r>
            <a:endParaRPr/>
          </a:p>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Asimetría de 17.34116</a:t>
            </a:r>
            <a:endParaRPr/>
          </a:p>
          <a:p>
            <a:pPr indent="-285750" lvl="0" marL="285750" marR="0" rtl="0" algn="just">
              <a:spcBef>
                <a:spcPts val="0"/>
              </a:spcBef>
              <a:spcAft>
                <a:spcPts val="0"/>
              </a:spcAft>
              <a:buClr>
                <a:srgbClr val="000000"/>
              </a:buClr>
              <a:buSzPts val="1800"/>
              <a:buFont typeface="Arial"/>
              <a:buChar char="•"/>
            </a:pPr>
            <a:r>
              <a:rPr lang="es-ES" sz="1800">
                <a:solidFill>
                  <a:srgbClr val="000000"/>
                </a:solidFill>
                <a:latin typeface="Arial"/>
                <a:ea typeface="Arial"/>
                <a:cs typeface="Arial"/>
                <a:sym typeface="Arial"/>
              </a:rPr>
              <a:t>Coeficiente de variación (CV) de 3.445762</a:t>
            </a:r>
            <a:endParaRPr sz="18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txBox="1"/>
          <p:nvPr>
            <p:ph type="title"/>
          </p:nvPr>
        </p:nvSpPr>
        <p:spPr>
          <a:xfrm>
            <a:off x="0" y="491976"/>
            <a:ext cx="5529000" cy="845100"/>
          </a:xfrm>
          <a:prstGeom prst="rect">
            <a:avLst/>
          </a:prstGeom>
          <a:solidFill>
            <a:srgbClr val="0A304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CONTRASTE DE HIPÓTESIS</a:t>
            </a:r>
            <a:endParaRPr sz="3600">
              <a:solidFill>
                <a:schemeClr val="lt1"/>
              </a:solidFill>
            </a:endParaRPr>
          </a:p>
        </p:txBody>
      </p:sp>
      <p:sp>
        <p:nvSpPr>
          <p:cNvPr id="251" name="Google Shape;251;p21"/>
          <p:cNvSpPr txBox="1"/>
          <p:nvPr/>
        </p:nvSpPr>
        <p:spPr>
          <a:xfrm>
            <a:off x="838200" y="1600799"/>
            <a:ext cx="10515599" cy="212365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La hipótesis nula establece que las medianas del tiempo de inactividad (downtime_gross) son iguales para todas las categorías de tipo de fallo de maquinaria.</a:t>
            </a:r>
            <a:endParaRPr sz="1800">
              <a:solidFill>
                <a:schemeClr val="dk1"/>
              </a:solidFill>
              <a:highlight>
                <a:srgbClr val="FFFFFF"/>
              </a:highlight>
              <a:latin typeface="Roboto"/>
              <a:ea typeface="Roboto"/>
              <a:cs typeface="Roboto"/>
              <a:sym typeface="Roboto"/>
            </a:endParaRPr>
          </a:p>
          <a:p>
            <a:pPr indent="0" lvl="0" marL="0" marR="0" rtl="0" algn="just">
              <a:lnSpc>
                <a:spcPct val="150000"/>
              </a:lnSpc>
              <a:spcBef>
                <a:spcPts val="0"/>
              </a:spcBef>
              <a:spcAft>
                <a:spcPts val="0"/>
              </a:spcAft>
              <a:buNone/>
            </a:pPr>
            <a:r>
              <a:rPr lang="es-ES" sz="1800">
                <a:solidFill>
                  <a:schemeClr val="dk1"/>
                </a:solidFill>
                <a:highlight>
                  <a:srgbClr val="FFFFFF"/>
                </a:highlight>
                <a:latin typeface="Roboto"/>
                <a:ea typeface="Roboto"/>
                <a:cs typeface="Roboto"/>
                <a:sym typeface="Roboto"/>
              </a:rPr>
              <a:t> </a:t>
            </a:r>
            <a:endParaRPr sz="1800">
              <a:solidFill>
                <a:schemeClr val="dk1"/>
              </a:solidFill>
              <a:highlight>
                <a:srgbClr val="FFFFFF"/>
              </a:highlight>
              <a:latin typeface="Roboto"/>
              <a:ea typeface="Roboto"/>
              <a:cs typeface="Roboto"/>
              <a:sym typeface="Roboto"/>
            </a:endParaRPr>
          </a:p>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La hipótesis alternativa sugiere que al menos una de las medianas es diferente entre las categorías de tipo de fallo de maquinaria.</a:t>
            </a:r>
            <a:endParaRPr sz="1800">
              <a:solidFill>
                <a:schemeClr val="dk1"/>
              </a:solidFill>
              <a:highlight>
                <a:srgbClr val="FFFFFF"/>
              </a:highlight>
              <a:latin typeface="Roboto"/>
              <a:ea typeface="Roboto"/>
              <a:cs typeface="Roboto"/>
              <a:sym typeface="Roboto"/>
            </a:endParaRPr>
          </a:p>
        </p:txBody>
      </p:sp>
      <p:pic>
        <p:nvPicPr>
          <p:cNvPr id="252" name="Google Shape;252;p21"/>
          <p:cNvPicPr preferRelativeResize="0"/>
          <p:nvPr/>
        </p:nvPicPr>
        <p:blipFill>
          <a:blip r:embed="rId3">
            <a:alphaModFix/>
          </a:blip>
          <a:stretch>
            <a:fillRect/>
          </a:stretch>
        </p:blipFill>
        <p:spPr>
          <a:xfrm>
            <a:off x="955100" y="4141756"/>
            <a:ext cx="8096250" cy="742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2"/>
          <p:cNvSpPr txBox="1"/>
          <p:nvPr/>
        </p:nvSpPr>
        <p:spPr>
          <a:xfrm>
            <a:off x="624662" y="596437"/>
            <a:ext cx="6201440" cy="167225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400">
                <a:solidFill>
                  <a:srgbClr val="000000"/>
                </a:solidFill>
                <a:highlight>
                  <a:srgbClr val="FFFFFF"/>
                </a:highlight>
                <a:latin typeface="Roboto"/>
                <a:ea typeface="Roboto"/>
                <a:cs typeface="Roboto"/>
                <a:sym typeface="Roboto"/>
              </a:rPr>
              <a:t>Como requisito previo se verificó si los datos de downtime_gross siguen una distribución normal, se realizó una prueba de Anderson Darling obteniendo que el P-valor es menor que el nivel de significancia de 0.05, se rechaza la hipótesis nula de que los datos provienen de una distribución normal.</a:t>
            </a:r>
            <a:endParaRPr sz="1400">
              <a:solidFill>
                <a:schemeClr val="dk1"/>
              </a:solidFill>
              <a:highlight>
                <a:srgbClr val="FFFFFF"/>
              </a:highlight>
              <a:latin typeface="Roboto"/>
              <a:ea typeface="Roboto"/>
              <a:cs typeface="Roboto"/>
              <a:sym typeface="Roboto"/>
            </a:endParaRPr>
          </a:p>
        </p:txBody>
      </p:sp>
      <p:pic>
        <p:nvPicPr>
          <p:cNvPr id="258" name="Google Shape;258;p22"/>
          <p:cNvPicPr preferRelativeResize="0"/>
          <p:nvPr/>
        </p:nvPicPr>
        <p:blipFill rotWithShape="1">
          <a:blip r:embed="rId3">
            <a:alphaModFix/>
          </a:blip>
          <a:srcRect b="0" l="0" r="0" t="0"/>
          <a:stretch/>
        </p:blipFill>
        <p:spPr>
          <a:xfrm>
            <a:off x="8323372" y="676939"/>
            <a:ext cx="3138525" cy="1003006"/>
          </a:xfrm>
          <a:prstGeom prst="rect">
            <a:avLst/>
          </a:prstGeom>
          <a:noFill/>
          <a:ln>
            <a:noFill/>
          </a:ln>
          <a:effectLst>
            <a:outerShdw blurRad="50800" rotWithShape="0" algn="tl" dir="2700000" dist="38100">
              <a:srgbClr val="000000">
                <a:alpha val="40000"/>
              </a:srgbClr>
            </a:outerShdw>
          </a:effectLst>
        </p:spPr>
      </p:pic>
      <p:sp>
        <p:nvSpPr>
          <p:cNvPr id="259" name="Google Shape;259;p22"/>
          <p:cNvSpPr txBox="1"/>
          <p:nvPr/>
        </p:nvSpPr>
        <p:spPr>
          <a:xfrm>
            <a:off x="624662" y="2548975"/>
            <a:ext cx="6360928" cy="13490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400">
                <a:solidFill>
                  <a:srgbClr val="000000"/>
                </a:solidFill>
                <a:highlight>
                  <a:srgbClr val="FFFFFF"/>
                </a:highlight>
                <a:latin typeface="Roboto"/>
                <a:ea typeface="Roboto"/>
                <a:cs typeface="Roboto"/>
                <a:sym typeface="Roboto"/>
              </a:rPr>
              <a:t>Al validar de que los datos de downtime_gross no siguen una distribución normal, se realizó una prueba de Kruskal-Wallis con el propósito de identificar si existe  una diferencia significativa en las medianas de tiempo de inactividad entre las categorías de falla.</a:t>
            </a:r>
            <a:endParaRPr sz="1400">
              <a:solidFill>
                <a:srgbClr val="000000"/>
              </a:solidFill>
              <a:highlight>
                <a:srgbClr val="FFFFFF"/>
              </a:highlight>
              <a:latin typeface="Roboto"/>
              <a:ea typeface="Roboto"/>
              <a:cs typeface="Roboto"/>
              <a:sym typeface="Roboto"/>
            </a:endParaRPr>
          </a:p>
        </p:txBody>
      </p:sp>
      <p:pic>
        <p:nvPicPr>
          <p:cNvPr id="260" name="Google Shape;260;p22"/>
          <p:cNvPicPr preferRelativeResize="0"/>
          <p:nvPr/>
        </p:nvPicPr>
        <p:blipFill rotWithShape="1">
          <a:blip r:embed="rId4">
            <a:alphaModFix/>
          </a:blip>
          <a:srcRect b="6480" l="0" r="0" t="0"/>
          <a:stretch/>
        </p:blipFill>
        <p:spPr>
          <a:xfrm>
            <a:off x="8323372" y="2297009"/>
            <a:ext cx="3574015" cy="926510"/>
          </a:xfrm>
          <a:prstGeom prst="rect">
            <a:avLst/>
          </a:prstGeom>
          <a:noFill/>
          <a:ln>
            <a:noFill/>
          </a:ln>
          <a:effectLst>
            <a:outerShdw blurRad="50800" rotWithShape="0" algn="tl" dir="2700000" dist="38100">
              <a:srgbClr val="000000">
                <a:alpha val="40000"/>
              </a:srgbClr>
            </a:outerShdw>
          </a:effectLst>
        </p:spPr>
      </p:pic>
      <p:sp>
        <p:nvSpPr>
          <p:cNvPr id="261" name="Google Shape;261;p22"/>
          <p:cNvSpPr txBox="1"/>
          <p:nvPr/>
        </p:nvSpPr>
        <p:spPr>
          <a:xfrm>
            <a:off x="624662" y="4285766"/>
            <a:ext cx="6360928" cy="102592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400">
                <a:solidFill>
                  <a:srgbClr val="000000"/>
                </a:solidFill>
                <a:highlight>
                  <a:srgbClr val="FFFFFF"/>
                </a:highlight>
                <a:latin typeface="Roboto"/>
                <a:ea typeface="Roboto"/>
                <a:cs typeface="Roboto"/>
                <a:sym typeface="Roboto"/>
              </a:rPr>
              <a:t>Al validar que existe diferencia significativa en el tiempo de inactividad entre las categorías de falla se realiza una prueba de Dunn esto para realizar comparaciones específicas entre pares de grupos</a:t>
            </a:r>
            <a:endParaRPr sz="1400">
              <a:solidFill>
                <a:srgbClr val="000000"/>
              </a:solidFill>
              <a:highlight>
                <a:srgbClr val="FFFFFF"/>
              </a:highlight>
              <a:latin typeface="Roboto"/>
              <a:ea typeface="Roboto"/>
              <a:cs typeface="Roboto"/>
              <a:sym typeface="Roboto"/>
            </a:endParaRPr>
          </a:p>
        </p:txBody>
      </p:sp>
      <p:pic>
        <p:nvPicPr>
          <p:cNvPr id="262" name="Google Shape;262;p22"/>
          <p:cNvPicPr preferRelativeResize="0"/>
          <p:nvPr/>
        </p:nvPicPr>
        <p:blipFill rotWithShape="1">
          <a:blip r:embed="rId5">
            <a:alphaModFix/>
          </a:blip>
          <a:srcRect b="0" l="0" r="0" t="0"/>
          <a:stretch/>
        </p:blipFill>
        <p:spPr>
          <a:xfrm>
            <a:off x="8123714" y="3556592"/>
            <a:ext cx="3773673" cy="2960155"/>
          </a:xfrm>
          <a:prstGeom prst="rect">
            <a:avLst/>
          </a:prstGeom>
          <a:noFill/>
          <a:ln>
            <a:noFill/>
          </a:ln>
          <a:effectLst>
            <a:outerShdw blurRad="50800" rotWithShape="0" algn="tl" dir="2700000" dist="38100">
              <a:srgbClr val="000000">
                <a:alpha val="40000"/>
              </a:srgbClr>
            </a:outerShdw>
          </a:effectLst>
        </p:spPr>
      </p:pic>
      <p:sp>
        <p:nvSpPr>
          <p:cNvPr id="263" name="Google Shape;263;p22"/>
          <p:cNvSpPr/>
          <p:nvPr/>
        </p:nvSpPr>
        <p:spPr>
          <a:xfrm>
            <a:off x="7128169" y="999461"/>
            <a:ext cx="893135" cy="680483"/>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 name="Google Shape;264;p22"/>
          <p:cNvSpPr/>
          <p:nvPr/>
        </p:nvSpPr>
        <p:spPr>
          <a:xfrm>
            <a:off x="7128169" y="2746798"/>
            <a:ext cx="893135" cy="680483"/>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 name="Google Shape;265;p22"/>
          <p:cNvSpPr/>
          <p:nvPr/>
        </p:nvSpPr>
        <p:spPr>
          <a:xfrm>
            <a:off x="7108085" y="4356186"/>
            <a:ext cx="893135" cy="680483"/>
          </a:xfrm>
          <a:prstGeom prst="rightArrow">
            <a:avLst>
              <a:gd fmla="val 50000" name="adj1"/>
              <a:gd fmla="val 50000" name="adj2"/>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22"/>
          <p:cNvSpPr txBox="1"/>
          <p:nvPr/>
        </p:nvSpPr>
        <p:spPr>
          <a:xfrm>
            <a:off x="491975" y="5780357"/>
            <a:ext cx="7062677" cy="646331"/>
          </a:xfrm>
          <a:prstGeom prst="rect">
            <a:avLst/>
          </a:prstGeom>
          <a:solidFill>
            <a:srgbClr val="BEF2C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Roboto"/>
                <a:ea typeface="Roboto"/>
                <a:cs typeface="Roboto"/>
                <a:sym typeface="Roboto"/>
              </a:rPr>
              <a:t>El tipo de falla tiene un impacto en el tiempo de inactividad, y todas las categorías tienen diferencias importantes entre sí.</a:t>
            </a:r>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txBox="1"/>
          <p:nvPr>
            <p:ph type="title"/>
          </p:nvPr>
        </p:nvSpPr>
        <p:spPr>
          <a:xfrm>
            <a:off x="0" y="347735"/>
            <a:ext cx="8474149" cy="929942"/>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REALIZACIÓN DE MODELOS PREDICTIVOS</a:t>
            </a:r>
            <a:endParaRPr sz="3600">
              <a:solidFill>
                <a:schemeClr val="lt1"/>
              </a:solidFill>
            </a:endParaRPr>
          </a:p>
        </p:txBody>
      </p:sp>
      <p:sp>
        <p:nvSpPr>
          <p:cNvPr id="272" name="Google Shape;272;p23"/>
          <p:cNvSpPr txBox="1"/>
          <p:nvPr/>
        </p:nvSpPr>
        <p:spPr>
          <a:xfrm>
            <a:off x="572386" y="1549319"/>
            <a:ext cx="10304721" cy="129407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1800">
                <a:solidFill>
                  <a:srgbClr val="000000"/>
                </a:solidFill>
                <a:highlight>
                  <a:srgbClr val="FFFFFF"/>
                </a:highlight>
                <a:latin typeface="Arial"/>
                <a:ea typeface="Arial"/>
                <a:cs typeface="Arial"/>
                <a:sym typeface="Arial"/>
              </a:rPr>
              <a:t>Proporciones de División:</a:t>
            </a:r>
            <a:r>
              <a:rPr lang="es-ES" sz="1800">
                <a:solidFill>
                  <a:srgbClr val="000000"/>
                </a:solidFill>
                <a:highlight>
                  <a:srgbClr val="FFFFFF"/>
                </a:highlight>
                <a:latin typeface="Arial"/>
                <a:ea typeface="Arial"/>
                <a:cs typeface="Arial"/>
                <a:sym typeface="Arial"/>
              </a:rPr>
              <a:t> Se definieron las proporciones para cada subconjunto de datos: Entrenamiento: 70% (95,100 instancias), Validación: 20% (27,171 instancias) y Prueba: 10% (13,587 instancias).</a:t>
            </a:r>
            <a:endParaRPr sz="1800">
              <a:solidFill>
                <a:schemeClr val="dk1"/>
              </a:solidFill>
              <a:highlight>
                <a:srgbClr val="FFFFFF"/>
              </a:highlight>
              <a:latin typeface="Noto Sans Symbols"/>
              <a:ea typeface="Noto Sans Symbols"/>
              <a:cs typeface="Noto Sans Symbols"/>
              <a:sym typeface="Noto Sans Symbols"/>
            </a:endParaRPr>
          </a:p>
        </p:txBody>
      </p:sp>
      <p:pic>
        <p:nvPicPr>
          <p:cNvPr id="273" name="Google Shape;273;p23"/>
          <p:cNvPicPr preferRelativeResize="0"/>
          <p:nvPr/>
        </p:nvPicPr>
        <p:blipFill rotWithShape="1">
          <a:blip r:embed="rId3">
            <a:alphaModFix/>
          </a:blip>
          <a:srcRect b="0" l="0" r="0" t="0"/>
          <a:stretch/>
        </p:blipFill>
        <p:spPr>
          <a:xfrm>
            <a:off x="2252716" y="3029126"/>
            <a:ext cx="7135831" cy="2479340"/>
          </a:xfrm>
          <a:prstGeom prst="rect">
            <a:avLst/>
          </a:prstGeom>
          <a:noFill/>
          <a:ln>
            <a:noFill/>
          </a:ln>
        </p:spPr>
      </p:pic>
      <p:sp>
        <p:nvSpPr>
          <p:cNvPr id="274" name="Google Shape;274;p23"/>
          <p:cNvSpPr txBox="1"/>
          <p:nvPr/>
        </p:nvSpPr>
        <p:spPr>
          <a:xfrm>
            <a:off x="1020030" y="5508466"/>
            <a:ext cx="1043123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Arial"/>
                <a:ea typeface="Arial"/>
                <a:cs typeface="Arial"/>
                <a:sym typeface="Arial"/>
              </a:rPr>
              <a:t>Recuperado de: </a:t>
            </a:r>
            <a:r>
              <a:rPr lang="es-ES" sz="1800" u="sng">
                <a:solidFill>
                  <a:schemeClr val="dk1"/>
                </a:solidFill>
                <a:latin typeface="Arial"/>
                <a:ea typeface="Arial"/>
                <a:cs typeface="Arial"/>
                <a:sym typeface="Arial"/>
                <a:hlinkClick r:id="rId4">
                  <a:extLst>
                    <a:ext uri="{A12FA001-AC4F-418D-AE19-62706E023703}">
                      <ahyp:hlinkClr val="tx"/>
                    </a:ext>
                  </a:extLst>
                </a:hlinkClick>
              </a:rPr>
              <a:t>https://medium.com/syntaxerrorpub/understanding-the-difference-between-training-test-and-validation-sets-in-machine-learning-c59feec6483b</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4"/>
          <p:cNvSpPr txBox="1"/>
          <p:nvPr>
            <p:ph type="title"/>
          </p:nvPr>
        </p:nvSpPr>
        <p:spPr>
          <a:xfrm>
            <a:off x="0" y="341363"/>
            <a:ext cx="5615762" cy="761926"/>
          </a:xfrm>
          <a:prstGeom prst="rect">
            <a:avLst/>
          </a:prstGeom>
          <a:solidFill>
            <a:srgbClr val="0A304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SUMMARY DE MODELOS GLM</a:t>
            </a:r>
            <a:endParaRPr sz="3600">
              <a:solidFill>
                <a:schemeClr val="lt1"/>
              </a:solidFill>
            </a:endParaRPr>
          </a:p>
        </p:txBody>
      </p:sp>
      <p:pic>
        <p:nvPicPr>
          <p:cNvPr id="280" name="Google Shape;280;p24"/>
          <p:cNvPicPr preferRelativeResize="0"/>
          <p:nvPr/>
        </p:nvPicPr>
        <p:blipFill rotWithShape="1">
          <a:blip r:embed="rId3">
            <a:alphaModFix/>
          </a:blip>
          <a:srcRect b="0" l="0" r="0" t="0"/>
          <a:stretch/>
        </p:blipFill>
        <p:spPr>
          <a:xfrm>
            <a:off x="4973785" y="1269353"/>
            <a:ext cx="7010216" cy="5219464"/>
          </a:xfrm>
          <a:prstGeom prst="rect">
            <a:avLst/>
          </a:prstGeom>
          <a:noFill/>
          <a:ln>
            <a:noFill/>
          </a:ln>
        </p:spPr>
      </p:pic>
      <p:sp>
        <p:nvSpPr>
          <p:cNvPr id="281" name="Google Shape;281;p24"/>
          <p:cNvSpPr txBox="1"/>
          <p:nvPr/>
        </p:nvSpPr>
        <p:spPr>
          <a:xfrm>
            <a:off x="359735" y="1944123"/>
            <a:ext cx="3166028" cy="17081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Roboto"/>
                <a:ea typeface="Roboto"/>
                <a:cs typeface="Roboto"/>
                <a:sym typeface="Roboto"/>
              </a:rPr>
              <a:t>En primera instancia se realizaron 7 modelos GLM de acuerdo con el siguiente cuadro:</a:t>
            </a:r>
            <a:endParaRPr sz="1800">
              <a:solidFill>
                <a:schemeClr val="dk1"/>
              </a:solidFill>
              <a:highlight>
                <a:srgbClr val="FFFFFF"/>
              </a:highlight>
              <a:latin typeface="Roboto"/>
              <a:ea typeface="Roboto"/>
              <a:cs typeface="Roboto"/>
              <a:sym typeface="Roboto"/>
            </a:endParaRPr>
          </a:p>
        </p:txBody>
      </p:sp>
      <p:pic>
        <p:nvPicPr>
          <p:cNvPr id="282" name="Google Shape;282;p24"/>
          <p:cNvPicPr preferRelativeResize="0"/>
          <p:nvPr/>
        </p:nvPicPr>
        <p:blipFill rotWithShape="1">
          <a:blip r:embed="rId4">
            <a:alphaModFix/>
          </a:blip>
          <a:srcRect b="0" l="0" r="0" t="0"/>
          <a:stretch/>
        </p:blipFill>
        <p:spPr>
          <a:xfrm>
            <a:off x="207999" y="4030418"/>
            <a:ext cx="4635238" cy="155822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5"/>
          <p:cNvSpPr txBox="1"/>
          <p:nvPr>
            <p:ph type="title"/>
          </p:nvPr>
        </p:nvSpPr>
        <p:spPr>
          <a:xfrm>
            <a:off x="0" y="123471"/>
            <a:ext cx="5954233" cy="535748"/>
          </a:xfrm>
          <a:prstGeom prst="rect">
            <a:avLst/>
          </a:prstGeom>
          <a:solidFill>
            <a:srgbClr val="0A304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ITERACIÓN DE 50 MODELOS GLM</a:t>
            </a:r>
            <a:endParaRPr sz="3600">
              <a:solidFill>
                <a:schemeClr val="lt1"/>
              </a:solidFill>
            </a:endParaRPr>
          </a:p>
        </p:txBody>
      </p:sp>
      <p:pic>
        <p:nvPicPr>
          <p:cNvPr id="288" name="Google Shape;288;p25"/>
          <p:cNvPicPr preferRelativeResize="0"/>
          <p:nvPr/>
        </p:nvPicPr>
        <p:blipFill rotWithShape="1">
          <a:blip r:embed="rId3">
            <a:alphaModFix/>
          </a:blip>
          <a:srcRect b="0" l="0" r="0" t="0"/>
          <a:stretch/>
        </p:blipFill>
        <p:spPr>
          <a:xfrm>
            <a:off x="1238664" y="927927"/>
            <a:ext cx="9381490" cy="572516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 name="Google Shape;294;p26"/>
          <p:cNvSpPr txBox="1"/>
          <p:nvPr>
            <p:ph type="title"/>
          </p:nvPr>
        </p:nvSpPr>
        <p:spPr>
          <a:xfrm>
            <a:off x="0" y="477629"/>
            <a:ext cx="5305647" cy="652001"/>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MODELO CHAMPION GLM</a:t>
            </a:r>
            <a:endParaRPr/>
          </a:p>
        </p:txBody>
      </p:sp>
      <p:pic>
        <p:nvPicPr>
          <p:cNvPr descr="Trophy with solid fill" id="295" name="Google Shape;295;p26"/>
          <p:cNvPicPr preferRelativeResize="0"/>
          <p:nvPr/>
        </p:nvPicPr>
        <p:blipFill rotWithShape="1">
          <a:blip r:embed="rId3">
            <a:alphaModFix/>
          </a:blip>
          <a:srcRect b="0" l="0" r="0" t="0"/>
          <a:stretch/>
        </p:blipFill>
        <p:spPr>
          <a:xfrm>
            <a:off x="1068130" y="1275070"/>
            <a:ext cx="3876165" cy="3876165"/>
          </a:xfrm>
          <a:prstGeom prst="rect">
            <a:avLst/>
          </a:prstGeom>
          <a:noFill/>
          <a:ln>
            <a:noFill/>
          </a:ln>
        </p:spPr>
      </p:pic>
      <p:sp>
        <p:nvSpPr>
          <p:cNvPr id="296" name="Google Shape;296;p26"/>
          <p:cNvSpPr txBox="1"/>
          <p:nvPr/>
        </p:nvSpPr>
        <p:spPr>
          <a:xfrm>
            <a:off x="5596502" y="2405894"/>
            <a:ext cx="5754896" cy="3197464"/>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None/>
            </a:pPr>
            <a:r>
              <a:rPr lang="es-ES" sz="2000">
                <a:solidFill>
                  <a:schemeClr val="dk1"/>
                </a:solidFill>
                <a:highlight>
                  <a:srgbClr val="FFFFFF"/>
                </a:highlight>
                <a:latin typeface="Arial"/>
                <a:ea typeface="Arial"/>
                <a:cs typeface="Arial"/>
                <a:sym typeface="Arial"/>
              </a:rPr>
              <a:t>El modelo champion GLM tomando en cuenta el error, bondad de ajuste y simplicidad es el </a:t>
            </a:r>
            <a:r>
              <a:rPr b="1" lang="es-ES" sz="2000">
                <a:solidFill>
                  <a:schemeClr val="dk1"/>
                </a:solidFill>
                <a:highlight>
                  <a:srgbClr val="FFFFFF"/>
                </a:highlight>
                <a:latin typeface="Arial"/>
                <a:ea typeface="Arial"/>
                <a:cs typeface="Arial"/>
                <a:sym typeface="Arial"/>
              </a:rPr>
              <a:t>modelo con selección forward (modelo 7 de la tabla summary),</a:t>
            </a:r>
            <a:r>
              <a:rPr lang="es-ES" sz="2000">
                <a:solidFill>
                  <a:schemeClr val="dk1"/>
                </a:solidFill>
                <a:highlight>
                  <a:srgbClr val="FFFFFF"/>
                </a:highlight>
                <a:latin typeface="Arial"/>
                <a:ea typeface="Arial"/>
                <a:cs typeface="Arial"/>
                <a:sym typeface="Arial"/>
              </a:rPr>
              <a:t> el modelo se conforma de 10 variables, además, en el conjunto de prueba se obtuvo un coeficiente de determinación de 97.01% y un error de 14.76. </a:t>
            </a:r>
            <a:r>
              <a:rPr b="1" lang="es-ES" sz="2000">
                <a:solidFill>
                  <a:schemeClr val="dk1"/>
                </a:solidFill>
                <a:highlight>
                  <a:srgbClr val="FFFFFF"/>
                </a:highlight>
                <a:latin typeface="Arial"/>
                <a:ea typeface="Arial"/>
                <a:cs typeface="Arial"/>
                <a:sym typeface="Arial"/>
              </a:rPr>
              <a:t>Notar que con el propósito de tener reproducibilidad se dejó una semilla fija (123) para replicar resultados.</a:t>
            </a:r>
            <a:endParaRPr sz="2000">
              <a:solidFill>
                <a:schemeClr val="dk1"/>
              </a:solidFill>
              <a:highlight>
                <a:srgbClr val="FFFFFF"/>
              </a:highlight>
              <a:latin typeface="Arial"/>
              <a:ea typeface="Arial"/>
              <a:cs typeface="Arial"/>
              <a:sym typeface="Arial"/>
            </a:endParaRPr>
          </a:p>
        </p:txBody>
      </p:sp>
      <p:sp>
        <p:nvSpPr>
          <p:cNvPr id="297" name="Google Shape;297;p26"/>
          <p:cNvSpPr/>
          <p:nvPr/>
        </p:nvSpPr>
        <p:spPr>
          <a:xfrm flipH="1" rot="10800000">
            <a:off x="0" y="6400799"/>
            <a:ext cx="12192000" cy="456773"/>
          </a:xfrm>
          <a:prstGeom prst="rect">
            <a:avLst/>
          </a:prstGeom>
          <a:gradFill>
            <a:gsLst>
              <a:gs pos="0">
                <a:schemeClr val="accent1"/>
              </a:gs>
              <a:gs pos="90000">
                <a:srgbClr val="000000"/>
              </a:gs>
              <a:gs pos="100000">
                <a:srgbClr val="000000"/>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 name="Google Shape;298;p26"/>
          <p:cNvSpPr/>
          <p:nvPr/>
        </p:nvSpPr>
        <p:spPr>
          <a:xfrm flipH="1">
            <a:off x="4038600" y="6400799"/>
            <a:ext cx="8153398" cy="456772"/>
          </a:xfrm>
          <a:prstGeom prst="rect">
            <a:avLst/>
          </a:prstGeom>
          <a:gradFill>
            <a:gsLst>
              <a:gs pos="0">
                <a:srgbClr val="000000">
                  <a:alpha val="49803"/>
                </a:srgbClr>
              </a:gs>
              <a:gs pos="100000">
                <a:srgbClr val="0F4861"/>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7"/>
          <p:cNvSpPr txBox="1"/>
          <p:nvPr/>
        </p:nvSpPr>
        <p:spPr>
          <a:xfrm>
            <a:off x="372140" y="350874"/>
            <a:ext cx="67729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Arial"/>
                <a:ea typeface="Arial"/>
                <a:cs typeface="Arial"/>
                <a:sym typeface="Arial"/>
              </a:rPr>
              <a:t>La fórmula de regresión es la siguiente:</a:t>
            </a:r>
            <a:endParaRPr sz="1800">
              <a:solidFill>
                <a:schemeClr val="dk1"/>
              </a:solidFill>
              <a:latin typeface="Arial"/>
              <a:ea typeface="Arial"/>
              <a:cs typeface="Arial"/>
              <a:sym typeface="Arial"/>
            </a:endParaRPr>
          </a:p>
        </p:txBody>
      </p:sp>
      <p:pic>
        <p:nvPicPr>
          <p:cNvPr descr="A close up of a screen&#10;&#10;Description automatically generated" id="304" name="Google Shape;304;p27"/>
          <p:cNvPicPr preferRelativeResize="0"/>
          <p:nvPr/>
        </p:nvPicPr>
        <p:blipFill rotWithShape="1">
          <a:blip r:embed="rId3">
            <a:alphaModFix/>
          </a:blip>
          <a:srcRect b="0" l="0" r="0" t="0"/>
          <a:stretch/>
        </p:blipFill>
        <p:spPr>
          <a:xfrm>
            <a:off x="372140" y="982543"/>
            <a:ext cx="11142968" cy="4142349"/>
          </a:xfrm>
          <a:prstGeom prst="rect">
            <a:avLst/>
          </a:prstGeom>
          <a:noFill/>
          <a:ln>
            <a:noFill/>
          </a:ln>
        </p:spPr>
      </p:pic>
      <p:sp>
        <p:nvSpPr>
          <p:cNvPr id="305" name="Google Shape;305;p27"/>
          <p:cNvSpPr txBox="1"/>
          <p:nvPr/>
        </p:nvSpPr>
        <p:spPr>
          <a:xfrm>
            <a:off x="478465" y="5571460"/>
            <a:ext cx="10802679" cy="369332"/>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Arial"/>
                <a:ea typeface="Arial"/>
                <a:cs typeface="Arial"/>
                <a:sym typeface="Arial"/>
              </a:rPr>
              <a:t>Se procede a evaluar el modelo champion con base a las condiciones establecidas en la siguiente lámina</a:t>
            </a:r>
            <a:endParaRPr sz="18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1" name="Google Shape;311;p28"/>
          <p:cNvSpPr txBox="1"/>
          <p:nvPr>
            <p:ph type="title"/>
          </p:nvPr>
        </p:nvSpPr>
        <p:spPr>
          <a:xfrm>
            <a:off x="0" y="405481"/>
            <a:ext cx="10388009" cy="691754"/>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CONDICIONES A EVALUAR DEL MODELO CHAMPION</a:t>
            </a:r>
            <a:endParaRPr/>
          </a:p>
        </p:txBody>
      </p:sp>
      <p:pic>
        <p:nvPicPr>
          <p:cNvPr descr="Error" id="312" name="Google Shape;312;p28"/>
          <p:cNvPicPr preferRelativeResize="0"/>
          <p:nvPr/>
        </p:nvPicPr>
        <p:blipFill rotWithShape="1">
          <a:blip r:embed="rId3">
            <a:alphaModFix/>
          </a:blip>
          <a:srcRect b="0" l="0" r="0" t="0"/>
          <a:stretch/>
        </p:blipFill>
        <p:spPr>
          <a:xfrm>
            <a:off x="1068130" y="1275070"/>
            <a:ext cx="3876165" cy="3876165"/>
          </a:xfrm>
          <a:prstGeom prst="rect">
            <a:avLst/>
          </a:prstGeom>
          <a:noFill/>
          <a:ln>
            <a:noFill/>
          </a:ln>
        </p:spPr>
      </p:pic>
      <p:sp>
        <p:nvSpPr>
          <p:cNvPr id="313" name="Google Shape;313;p28"/>
          <p:cNvSpPr txBox="1"/>
          <p:nvPr/>
        </p:nvSpPr>
        <p:spPr>
          <a:xfrm>
            <a:off x="4944295" y="2322494"/>
            <a:ext cx="6889742" cy="3197464"/>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2000">
                <a:solidFill>
                  <a:schemeClr val="dk1"/>
                </a:solidFill>
                <a:latin typeface="Arial"/>
                <a:ea typeface="Arial"/>
                <a:cs typeface="Arial"/>
                <a:sym typeface="Arial"/>
              </a:rPr>
              <a:t>Un modelo lineal generalizado (GLM) es una extensión del modelo lineal clásico; por ello, antes de definir un modelo lineal generalizado conviene recordar las tres condiciones que debe verificar un modelo lineal:</a:t>
            </a:r>
            <a:endParaRPr/>
          </a:p>
          <a:p>
            <a:pPr indent="-228600" lvl="0" marL="342900" marR="0" rtl="0" algn="l">
              <a:lnSpc>
                <a:spcPct val="90000"/>
              </a:lnSpc>
              <a:spcBef>
                <a:spcPts val="600"/>
              </a:spcBef>
              <a:spcAft>
                <a:spcPts val="0"/>
              </a:spcAft>
              <a:buClr>
                <a:schemeClr val="dk1"/>
              </a:buClr>
              <a:buSzPts val="2000"/>
              <a:buFont typeface="Arial"/>
              <a:buChar char="•"/>
            </a:pPr>
            <a:r>
              <a:rPr lang="es-ES" sz="2000">
                <a:solidFill>
                  <a:schemeClr val="dk1"/>
                </a:solidFill>
                <a:latin typeface="Arial"/>
                <a:ea typeface="Arial"/>
                <a:cs typeface="Arial"/>
                <a:sym typeface="Arial"/>
              </a:rPr>
              <a:t>Los errores se distribuyen normalmente.</a:t>
            </a:r>
            <a:endParaRPr/>
          </a:p>
          <a:p>
            <a:pPr indent="-228600" lvl="0" marL="342900" marR="0" rtl="0" algn="l">
              <a:lnSpc>
                <a:spcPct val="90000"/>
              </a:lnSpc>
              <a:spcBef>
                <a:spcPts val="600"/>
              </a:spcBef>
              <a:spcAft>
                <a:spcPts val="0"/>
              </a:spcAft>
              <a:buClr>
                <a:schemeClr val="dk1"/>
              </a:buClr>
              <a:buSzPts val="2000"/>
              <a:buFont typeface="Arial"/>
              <a:buChar char="•"/>
            </a:pPr>
            <a:r>
              <a:rPr lang="es-ES" sz="2000">
                <a:solidFill>
                  <a:schemeClr val="dk1"/>
                </a:solidFill>
                <a:latin typeface="Arial"/>
                <a:ea typeface="Arial"/>
                <a:cs typeface="Arial"/>
                <a:sym typeface="Arial"/>
              </a:rPr>
              <a:t>La varianza es constante.</a:t>
            </a:r>
            <a:endParaRPr/>
          </a:p>
          <a:p>
            <a:pPr indent="-228600" lvl="0" marL="342900" marR="0" rtl="0" algn="l">
              <a:lnSpc>
                <a:spcPct val="90000"/>
              </a:lnSpc>
              <a:spcBef>
                <a:spcPts val="600"/>
              </a:spcBef>
              <a:spcAft>
                <a:spcPts val="0"/>
              </a:spcAft>
              <a:buClr>
                <a:schemeClr val="dk1"/>
              </a:buClr>
              <a:buSzPts val="2000"/>
              <a:buFont typeface="Arial"/>
              <a:buChar char="•"/>
            </a:pPr>
            <a:r>
              <a:rPr lang="es-ES" sz="2000">
                <a:solidFill>
                  <a:schemeClr val="dk1"/>
                </a:solidFill>
                <a:latin typeface="Arial"/>
                <a:ea typeface="Arial"/>
                <a:cs typeface="Arial"/>
                <a:sym typeface="Arial"/>
              </a:rPr>
              <a:t>Las variables independientes están relacionadas con la variable dependiente de manera lineal.</a:t>
            </a:r>
            <a:endParaRPr/>
          </a:p>
        </p:txBody>
      </p:sp>
      <p:sp>
        <p:nvSpPr>
          <p:cNvPr id="314" name="Google Shape;314;p28"/>
          <p:cNvSpPr/>
          <p:nvPr/>
        </p:nvSpPr>
        <p:spPr>
          <a:xfrm flipH="1" rot="10800000">
            <a:off x="0" y="6400799"/>
            <a:ext cx="12192000" cy="456773"/>
          </a:xfrm>
          <a:prstGeom prst="rect">
            <a:avLst/>
          </a:prstGeom>
          <a:gradFill>
            <a:gsLst>
              <a:gs pos="0">
                <a:schemeClr val="accent1"/>
              </a:gs>
              <a:gs pos="90000">
                <a:srgbClr val="000000"/>
              </a:gs>
              <a:gs pos="100000">
                <a:srgbClr val="000000"/>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28"/>
          <p:cNvSpPr/>
          <p:nvPr/>
        </p:nvSpPr>
        <p:spPr>
          <a:xfrm flipH="1">
            <a:off x="4038600" y="6400799"/>
            <a:ext cx="8153398" cy="456772"/>
          </a:xfrm>
          <a:prstGeom prst="rect">
            <a:avLst/>
          </a:prstGeom>
          <a:gradFill>
            <a:gsLst>
              <a:gs pos="0">
                <a:srgbClr val="000000">
                  <a:alpha val="49803"/>
                </a:srgbClr>
              </a:gs>
              <a:gs pos="100000">
                <a:srgbClr val="0F4861"/>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9"/>
          <p:cNvSpPr txBox="1"/>
          <p:nvPr/>
        </p:nvSpPr>
        <p:spPr>
          <a:xfrm>
            <a:off x="305685" y="602961"/>
            <a:ext cx="6435358" cy="253813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Como comprobación, se procede a analizar la normalidad de los residuos del modelo champion GLM, se realizó un gráfico para evaluar la normalidad de los residuos del modelo con selección forward, se visualiza que los residuos no son normales, se identifican colas en el gráfico. Este modelo </a:t>
            </a:r>
            <a:r>
              <a:rPr b="1" lang="es-ES" sz="1800">
                <a:solidFill>
                  <a:srgbClr val="C00000"/>
                </a:solidFill>
                <a:highlight>
                  <a:srgbClr val="FFFFFF"/>
                </a:highlight>
                <a:latin typeface="Arial"/>
                <a:ea typeface="Arial"/>
                <a:cs typeface="Arial"/>
                <a:sym typeface="Arial"/>
              </a:rPr>
              <a:t>incumple el supuesto de normalidad de los residuos.</a:t>
            </a:r>
            <a:endParaRPr sz="1800">
              <a:solidFill>
                <a:srgbClr val="C00000"/>
              </a:solidFill>
              <a:highlight>
                <a:srgbClr val="FFFFFF"/>
              </a:highlight>
              <a:latin typeface="Roboto"/>
              <a:ea typeface="Roboto"/>
              <a:cs typeface="Roboto"/>
              <a:sym typeface="Roboto"/>
            </a:endParaRPr>
          </a:p>
        </p:txBody>
      </p:sp>
      <p:pic>
        <p:nvPicPr>
          <p:cNvPr descr="A graph with a line drawn on it&#10;&#10;Description automatically generated" id="321" name="Google Shape;321;p29"/>
          <p:cNvPicPr preferRelativeResize="0"/>
          <p:nvPr/>
        </p:nvPicPr>
        <p:blipFill rotWithShape="1">
          <a:blip r:embed="rId3">
            <a:alphaModFix/>
          </a:blip>
          <a:srcRect b="0" l="0" r="0" t="0"/>
          <a:stretch/>
        </p:blipFill>
        <p:spPr>
          <a:xfrm>
            <a:off x="7250866" y="464794"/>
            <a:ext cx="3800840" cy="2613387"/>
          </a:xfrm>
          <a:prstGeom prst="rect">
            <a:avLst/>
          </a:prstGeom>
          <a:noFill/>
          <a:ln>
            <a:noFill/>
          </a:ln>
          <a:effectLst>
            <a:outerShdw blurRad="50800" rotWithShape="0" algn="tl" dir="2700000" dist="38100">
              <a:srgbClr val="000000">
                <a:alpha val="40000"/>
              </a:srgbClr>
            </a:outerShdw>
          </a:effectLst>
        </p:spPr>
      </p:pic>
      <p:sp>
        <p:nvSpPr>
          <p:cNvPr id="322" name="Google Shape;322;p29"/>
          <p:cNvSpPr txBox="1"/>
          <p:nvPr/>
        </p:nvSpPr>
        <p:spPr>
          <a:xfrm>
            <a:off x="305685" y="3716909"/>
            <a:ext cx="609777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Arial"/>
                <a:ea typeface="Arial"/>
                <a:cs typeface="Arial"/>
                <a:sym typeface="Arial"/>
              </a:rPr>
              <a:t>Continuando con la comprobación, se realizó una prueba de Durbin-Watson, la prueba de Durbin-Watson</a:t>
            </a:r>
            <a:endParaRPr sz="1800">
              <a:solidFill>
                <a:schemeClr val="dk1"/>
              </a:solidFill>
              <a:latin typeface="Arial"/>
              <a:ea typeface="Arial"/>
              <a:cs typeface="Arial"/>
              <a:sym typeface="Arial"/>
            </a:endParaRPr>
          </a:p>
        </p:txBody>
      </p:sp>
      <p:pic>
        <p:nvPicPr>
          <p:cNvPr descr="A black text on a white background&#10;&#10;Description automatically generated" id="323" name="Google Shape;323;p29"/>
          <p:cNvPicPr preferRelativeResize="0"/>
          <p:nvPr/>
        </p:nvPicPr>
        <p:blipFill rotWithShape="1">
          <a:blip r:embed="rId4">
            <a:alphaModFix/>
          </a:blip>
          <a:srcRect b="0" l="0" r="0" t="0"/>
          <a:stretch/>
        </p:blipFill>
        <p:spPr>
          <a:xfrm>
            <a:off x="7098147" y="4055049"/>
            <a:ext cx="3888586" cy="770915"/>
          </a:xfrm>
          <a:prstGeom prst="rect">
            <a:avLst/>
          </a:prstGeom>
          <a:noFill/>
          <a:ln>
            <a:noFill/>
          </a:ln>
          <a:effectLst>
            <a:outerShdw blurRad="50800" rotWithShape="0" algn="tl" dir="2700000" dist="38100">
              <a:srgbClr val="000000">
                <a:alpha val="40000"/>
              </a:srgbClr>
            </a:outerShdw>
          </a:effectLst>
        </p:spPr>
      </p:pic>
      <p:sp>
        <p:nvSpPr>
          <p:cNvPr id="324" name="Google Shape;324;p29"/>
          <p:cNvSpPr txBox="1"/>
          <p:nvPr/>
        </p:nvSpPr>
        <p:spPr>
          <a:xfrm>
            <a:off x="305685" y="4440507"/>
            <a:ext cx="6097772" cy="170713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Un P-valor mayor a 0.05 indica que no hay autocorrelación entre los residuos, por lo que </a:t>
            </a:r>
            <a:r>
              <a:rPr b="1" lang="es-ES" sz="1800">
                <a:solidFill>
                  <a:srgbClr val="275316"/>
                </a:solidFill>
                <a:highlight>
                  <a:srgbClr val="FFFFFF"/>
                </a:highlight>
                <a:latin typeface="Arial"/>
                <a:ea typeface="Arial"/>
                <a:cs typeface="Arial"/>
                <a:sym typeface="Arial"/>
              </a:rPr>
              <a:t>el supuesto de independencia de los residuos se cumple en el modelo champion.</a:t>
            </a:r>
            <a:endParaRPr sz="1800">
              <a:solidFill>
                <a:srgbClr val="275316"/>
              </a:solidFill>
              <a:highlight>
                <a:srgbClr val="FFFFFF"/>
              </a:highlight>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nvSpPr>
        <p:spPr>
          <a:xfrm>
            <a:off x="762886" y="698372"/>
            <a:ext cx="6097772" cy="300595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600">
                <a:solidFill>
                  <a:srgbClr val="000000"/>
                </a:solidFill>
                <a:highlight>
                  <a:srgbClr val="FFFFFF"/>
                </a:highlight>
                <a:latin typeface="Arial"/>
                <a:ea typeface="Arial"/>
                <a:cs typeface="Arial"/>
                <a:sym typeface="Arial"/>
              </a:rPr>
              <a:t>La prueba de Breusch-Pagan se utiliza para detectar la presencia de heterocedasticidad en un modelo de regresión. El resultado de la prueba de Breusch-Pagan muestra una evidencia de heterocedasticidad en el modelo 7 con selección forward, un P-valor (&lt; 2.2e-16) menor al nivel de significancia de 0.05, </a:t>
            </a:r>
            <a:r>
              <a:rPr b="1" lang="es-ES" sz="1600">
                <a:solidFill>
                  <a:srgbClr val="C00000"/>
                </a:solidFill>
                <a:highlight>
                  <a:srgbClr val="FFFFFF"/>
                </a:highlight>
                <a:latin typeface="Arial"/>
                <a:ea typeface="Arial"/>
                <a:cs typeface="Arial"/>
                <a:sym typeface="Arial"/>
              </a:rPr>
              <a:t>indica que la varianza de los residuos no es constante, lo cual viola uno de los supuestos de un modelo GLM.</a:t>
            </a:r>
            <a:endParaRPr sz="1600">
              <a:solidFill>
                <a:srgbClr val="C00000"/>
              </a:solidFill>
              <a:highlight>
                <a:srgbClr val="FFFFFF"/>
              </a:highlight>
              <a:latin typeface="Roboto"/>
              <a:ea typeface="Roboto"/>
              <a:cs typeface="Roboto"/>
              <a:sym typeface="Roboto"/>
            </a:endParaRPr>
          </a:p>
          <a:p>
            <a:pPr indent="0" lvl="0" marL="0" marR="0" rtl="0" algn="just">
              <a:lnSpc>
                <a:spcPct val="150000"/>
              </a:lnSpc>
              <a:spcBef>
                <a:spcPts val="0"/>
              </a:spcBef>
              <a:spcAft>
                <a:spcPts val="0"/>
              </a:spcAft>
              <a:buNone/>
            </a:pPr>
            <a:r>
              <a:t/>
            </a:r>
            <a:endParaRPr sz="1600">
              <a:solidFill>
                <a:schemeClr val="dk1"/>
              </a:solidFill>
              <a:highlight>
                <a:srgbClr val="FFFFFF"/>
              </a:highlight>
              <a:latin typeface="Roboto"/>
              <a:ea typeface="Roboto"/>
              <a:cs typeface="Roboto"/>
              <a:sym typeface="Roboto"/>
            </a:endParaRPr>
          </a:p>
        </p:txBody>
      </p:sp>
      <p:pic>
        <p:nvPicPr>
          <p:cNvPr descr="A black text on a white background&#10;&#10;Description automatically generated" id="330" name="Google Shape;330;p30"/>
          <p:cNvPicPr preferRelativeResize="0"/>
          <p:nvPr/>
        </p:nvPicPr>
        <p:blipFill rotWithShape="1">
          <a:blip r:embed="rId3">
            <a:alphaModFix/>
          </a:blip>
          <a:srcRect b="0" l="0" r="0" t="0"/>
          <a:stretch/>
        </p:blipFill>
        <p:spPr>
          <a:xfrm>
            <a:off x="7583739" y="1511550"/>
            <a:ext cx="3725010" cy="1069193"/>
          </a:xfrm>
          <a:prstGeom prst="rect">
            <a:avLst/>
          </a:prstGeom>
          <a:noFill/>
          <a:ln>
            <a:noFill/>
          </a:ln>
          <a:effectLst>
            <a:outerShdw blurRad="50800" rotWithShape="0" algn="tl" dir="2700000" dist="38100">
              <a:srgbClr val="000000">
                <a:alpha val="40000"/>
              </a:srgbClr>
            </a:outerShdw>
          </a:effectLst>
        </p:spPr>
      </p:pic>
      <p:sp>
        <p:nvSpPr>
          <p:cNvPr id="331" name="Google Shape;331;p30"/>
          <p:cNvSpPr txBox="1"/>
          <p:nvPr/>
        </p:nvSpPr>
        <p:spPr>
          <a:xfrm>
            <a:off x="762886" y="3795823"/>
            <a:ext cx="11039254"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Arial"/>
                <a:ea typeface="Arial"/>
                <a:cs typeface="Arial"/>
                <a:sym typeface="Arial"/>
              </a:rPr>
              <a:t>Se realizaron las mismas comprobaciones para el segundo mejor modelo (modelo 20 de la iteración de 50 modelos) obteniendo </a:t>
            </a:r>
            <a:r>
              <a:rPr b="1" lang="es-ES" sz="1800">
                <a:solidFill>
                  <a:schemeClr val="dk1"/>
                </a:solidFill>
                <a:latin typeface="Arial"/>
                <a:ea typeface="Arial"/>
                <a:cs typeface="Arial"/>
                <a:sym typeface="Arial"/>
              </a:rPr>
              <a:t>el modelo </a:t>
            </a:r>
            <a:r>
              <a:rPr b="1" lang="es-ES" sz="1800">
                <a:solidFill>
                  <a:srgbClr val="000000"/>
                </a:solidFill>
                <a:highlight>
                  <a:srgbClr val="FFFFFF"/>
                </a:highlight>
                <a:latin typeface="Arial"/>
                <a:ea typeface="Arial"/>
                <a:cs typeface="Arial"/>
                <a:sym typeface="Arial"/>
              </a:rPr>
              <a:t>no presenta problemas de autocorrelación en los residuos, pero sí tiene problemas de heterocedasticidad e incumple la normalidad de residuos.</a:t>
            </a:r>
            <a:endParaRPr sz="1800">
              <a:solidFill>
                <a:schemeClr val="dk1"/>
              </a:solidFill>
              <a:highlight>
                <a:srgbClr val="FFFFFF"/>
              </a:highlight>
              <a:latin typeface="Roboto"/>
              <a:ea typeface="Roboto"/>
              <a:cs typeface="Roboto"/>
              <a:sym typeface="Roboto"/>
            </a:endParaRPr>
          </a:p>
          <a:p>
            <a:pPr indent="0" lvl="0" marL="0" marR="0" rtl="0" algn="just">
              <a:spcBef>
                <a:spcPts val="0"/>
              </a:spcBef>
              <a:spcAft>
                <a:spcPts val="0"/>
              </a:spcAft>
              <a:buNone/>
            </a:pPr>
            <a:r>
              <a:t/>
            </a:r>
            <a:endParaRPr sz="1800">
              <a:solidFill>
                <a:schemeClr val="dk1"/>
              </a:solidFill>
              <a:latin typeface="Arial"/>
              <a:ea typeface="Arial"/>
              <a:cs typeface="Arial"/>
              <a:sym typeface="Arial"/>
            </a:endParaRPr>
          </a:p>
        </p:txBody>
      </p:sp>
      <p:sp>
        <p:nvSpPr>
          <p:cNvPr id="332" name="Google Shape;332;p30"/>
          <p:cNvSpPr txBox="1"/>
          <p:nvPr/>
        </p:nvSpPr>
        <p:spPr>
          <a:xfrm>
            <a:off x="762886" y="5345300"/>
            <a:ext cx="7966444"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rgbClr val="C00000"/>
                </a:solidFill>
                <a:latin typeface="Arial"/>
                <a:ea typeface="Arial"/>
                <a:cs typeface="Arial"/>
                <a:sym typeface="Arial"/>
              </a:rPr>
              <a:t>Los modelos GLM no son válidos por el incumplimiento de los supuestos de normalidad de residuos y homocedasticidad.</a:t>
            </a:r>
            <a:endParaRPr sz="1800">
              <a:solidFill>
                <a:srgbClr val="C00000"/>
              </a:solidFill>
              <a:latin typeface="Arial"/>
              <a:ea typeface="Arial"/>
              <a:cs typeface="Arial"/>
              <a:sym typeface="Arial"/>
            </a:endParaRPr>
          </a:p>
        </p:txBody>
      </p:sp>
      <p:pic>
        <p:nvPicPr>
          <p:cNvPr descr="Trophy with solid fill" id="333" name="Google Shape;333;p30"/>
          <p:cNvPicPr preferRelativeResize="0"/>
          <p:nvPr/>
        </p:nvPicPr>
        <p:blipFill rotWithShape="1">
          <a:blip r:embed="rId4">
            <a:alphaModFix/>
          </a:blip>
          <a:srcRect b="0" l="0" r="0" t="0"/>
          <a:stretch/>
        </p:blipFill>
        <p:spPr>
          <a:xfrm>
            <a:off x="8807302" y="5211265"/>
            <a:ext cx="914400" cy="914400"/>
          </a:xfrm>
          <a:prstGeom prst="rect">
            <a:avLst/>
          </a:prstGeom>
          <a:noFill/>
          <a:ln>
            <a:noFill/>
          </a:ln>
        </p:spPr>
      </p:pic>
      <p:pic>
        <p:nvPicPr>
          <p:cNvPr descr="Close with solid fill" id="334" name="Google Shape;334;p30"/>
          <p:cNvPicPr preferRelativeResize="0"/>
          <p:nvPr/>
        </p:nvPicPr>
        <p:blipFill rotWithShape="1">
          <a:blip r:embed="rId5">
            <a:alphaModFix/>
          </a:blip>
          <a:srcRect b="0" l="0" r="0" t="0"/>
          <a:stretch/>
        </p:blipFill>
        <p:spPr>
          <a:xfrm>
            <a:off x="8821478" y="5211265"/>
            <a:ext cx="914400" cy="914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0" y="269433"/>
            <a:ext cx="9813851" cy="921415"/>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SUMMARY DE MODELOS DE MACHINE LEARNING</a:t>
            </a:r>
            <a:endParaRPr sz="3600">
              <a:solidFill>
                <a:schemeClr val="lt1"/>
              </a:solidFill>
            </a:endParaRPr>
          </a:p>
        </p:txBody>
      </p:sp>
      <p:pic>
        <p:nvPicPr>
          <p:cNvPr id="340" name="Google Shape;340;p31"/>
          <p:cNvPicPr preferRelativeResize="0"/>
          <p:nvPr/>
        </p:nvPicPr>
        <p:blipFill rotWithShape="1">
          <a:blip r:embed="rId3">
            <a:alphaModFix/>
          </a:blip>
          <a:srcRect b="0" l="0" r="0" t="0"/>
          <a:stretch/>
        </p:blipFill>
        <p:spPr>
          <a:xfrm>
            <a:off x="1464338" y="1435398"/>
            <a:ext cx="7966739" cy="484935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type="title"/>
          </p:nvPr>
        </p:nvSpPr>
        <p:spPr>
          <a:xfrm>
            <a:off x="0" y="300247"/>
            <a:ext cx="7602279" cy="731112"/>
          </a:xfrm>
          <a:prstGeom prst="rect">
            <a:avLst/>
          </a:prstGeom>
          <a:solidFill>
            <a:srgbClr val="0A304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Play"/>
              <a:buNone/>
            </a:pPr>
            <a:r>
              <a:rPr lang="es-ES" sz="3600">
                <a:solidFill>
                  <a:schemeClr val="lt1"/>
                </a:solidFill>
              </a:rPr>
              <a:t>SELECCIÓN DEL MODELO CHAMPION</a:t>
            </a:r>
            <a:endParaRPr sz="3600">
              <a:solidFill>
                <a:schemeClr val="lt1"/>
              </a:solidFill>
            </a:endParaRPr>
          </a:p>
        </p:txBody>
      </p:sp>
      <p:sp>
        <p:nvSpPr>
          <p:cNvPr id="346" name="Google Shape;346;p32"/>
          <p:cNvSpPr txBox="1"/>
          <p:nvPr/>
        </p:nvSpPr>
        <p:spPr>
          <a:xfrm>
            <a:off x="539601" y="1690688"/>
            <a:ext cx="77006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Roboto"/>
                <a:ea typeface="Roboto"/>
                <a:cs typeface="Roboto"/>
                <a:sym typeface="Roboto"/>
              </a:rPr>
              <a:t>La selección del modelo se ha basado en métricas de rendimiento (bondad de ajuste, error) y en el principio de parsimonia.</a:t>
            </a:r>
            <a:endParaRPr sz="1800">
              <a:solidFill>
                <a:schemeClr val="dk1"/>
              </a:solidFill>
              <a:latin typeface="Arial"/>
              <a:ea typeface="Arial"/>
              <a:cs typeface="Arial"/>
              <a:sym typeface="Arial"/>
            </a:endParaRPr>
          </a:p>
        </p:txBody>
      </p:sp>
      <p:sp>
        <p:nvSpPr>
          <p:cNvPr id="347" name="Google Shape;347;p32"/>
          <p:cNvSpPr txBox="1"/>
          <p:nvPr/>
        </p:nvSpPr>
        <p:spPr>
          <a:xfrm>
            <a:off x="8240232" y="767358"/>
            <a:ext cx="3607095"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Roboto"/>
                <a:ea typeface="Roboto"/>
                <a:cs typeface="Roboto"/>
                <a:sym typeface="Roboto"/>
              </a:rPr>
              <a:t>               El principio de 	parsimonia, 	también conocido como la navaja de Ockham, es un principio metodológico y filosófico que sostiene que, dadas varias hipótesis o explicaciones posibles para un fenómeno, la más simple (la que hace menos suposiciones) es la que debe seleccionarse. </a:t>
            </a:r>
            <a:endParaRPr sz="1800">
              <a:solidFill>
                <a:schemeClr val="dk1"/>
              </a:solidFill>
              <a:latin typeface="Arial"/>
              <a:ea typeface="Arial"/>
              <a:cs typeface="Arial"/>
              <a:sym typeface="Arial"/>
            </a:endParaRPr>
          </a:p>
        </p:txBody>
      </p:sp>
      <p:pic>
        <p:nvPicPr>
          <p:cNvPr descr="Lights On with solid fill" id="348" name="Google Shape;348;p32"/>
          <p:cNvPicPr preferRelativeResize="0"/>
          <p:nvPr/>
        </p:nvPicPr>
        <p:blipFill rotWithShape="1">
          <a:blip r:embed="rId3">
            <a:alphaModFix/>
          </a:blip>
          <a:srcRect b="0" l="0" r="0" t="0"/>
          <a:stretch/>
        </p:blipFill>
        <p:spPr>
          <a:xfrm>
            <a:off x="8254409" y="637601"/>
            <a:ext cx="914400" cy="914400"/>
          </a:xfrm>
          <a:prstGeom prst="rect">
            <a:avLst/>
          </a:prstGeom>
          <a:noFill/>
          <a:ln>
            <a:noFill/>
          </a:ln>
        </p:spPr>
      </p:pic>
      <p:sp>
        <p:nvSpPr>
          <p:cNvPr id="349" name="Google Shape;349;p32"/>
          <p:cNvSpPr txBox="1"/>
          <p:nvPr/>
        </p:nvSpPr>
        <p:spPr>
          <a:xfrm>
            <a:off x="539601" y="2412953"/>
            <a:ext cx="7062678"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Roboto"/>
                <a:ea typeface="Roboto"/>
                <a:cs typeface="Roboto"/>
                <a:sym typeface="Roboto"/>
              </a:rPr>
              <a:t>Notar que</a:t>
            </a:r>
            <a:r>
              <a:rPr lang="es-ES" sz="1800">
                <a:solidFill>
                  <a:schemeClr val="dk1"/>
                </a:solidFill>
                <a:latin typeface="Arial"/>
                <a:ea typeface="Arial"/>
                <a:cs typeface="Arial"/>
                <a:sym typeface="Arial"/>
              </a:rPr>
              <a:t> el modelo seleccionado en condiciones de cumplimiento de los supuestos de normalidad de residuos, varianza constante de los errores e independencia de residuos hubiese sido el modelo GLM por el hecho de que proporciona explicatibilidad para el fenómeno estudiado, </a:t>
            </a:r>
            <a:r>
              <a:rPr b="1" lang="es-ES" sz="1800">
                <a:solidFill>
                  <a:schemeClr val="accent1"/>
                </a:solidFill>
                <a:latin typeface="Arial"/>
                <a:ea typeface="Arial"/>
                <a:cs typeface="Arial"/>
                <a:sym typeface="Arial"/>
              </a:rPr>
              <a:t>sin embargo, cumpliendo rigor científico este no es un modelo aplicable al incumplir los supuestos de normalidad de residuos y varianza constante de los errores, por ello, el modelo escogido es el modelo no paramétrico RNA</a:t>
            </a:r>
            <a:endParaRPr b="1" sz="1800">
              <a:solidFill>
                <a:schemeClr val="accent1"/>
              </a:solidFill>
              <a:latin typeface="Arial"/>
              <a:ea typeface="Arial"/>
              <a:cs typeface="Arial"/>
              <a:sym typeface="Arial"/>
            </a:endParaRPr>
          </a:p>
        </p:txBody>
      </p:sp>
      <p:sp>
        <p:nvSpPr>
          <p:cNvPr id="350" name="Google Shape;350;p32"/>
          <p:cNvSpPr txBox="1"/>
          <p:nvPr/>
        </p:nvSpPr>
        <p:spPr>
          <a:xfrm>
            <a:off x="539601" y="4875351"/>
            <a:ext cx="11112798" cy="1345048"/>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rgbClr val="000000"/>
              </a:buClr>
              <a:buSzPts val="1400"/>
              <a:buFont typeface="Noto Sans Symbols"/>
              <a:buChar char="✔"/>
            </a:pPr>
            <a:r>
              <a:rPr lang="es-ES" sz="1400">
                <a:solidFill>
                  <a:srgbClr val="000000"/>
                </a:solidFill>
                <a:highlight>
                  <a:srgbClr val="FFFFFF"/>
                </a:highlight>
                <a:latin typeface="Arial"/>
                <a:ea typeface="Arial"/>
                <a:cs typeface="Arial"/>
                <a:sym typeface="Arial"/>
              </a:rPr>
              <a:t>La RNA ofrece el menor tiempo de ejecución, con 4 minutos y 21 segundos; en el caso de negocio planteado donde es necesario tomar decisiones en tiempo real, este es un factor determinante para elegir el modelo champion.</a:t>
            </a:r>
            <a:r>
              <a:rPr b="1" lang="es-ES" sz="1400">
                <a:solidFill>
                  <a:schemeClr val="dk1"/>
                </a:solidFill>
                <a:highlight>
                  <a:srgbClr val="FFFFFF"/>
                </a:highlight>
                <a:latin typeface="Arial"/>
                <a:ea typeface="Arial"/>
                <a:cs typeface="Arial"/>
                <a:sym typeface="Arial"/>
              </a:rPr>
              <a:t> </a:t>
            </a:r>
            <a:endParaRPr sz="1400">
              <a:solidFill>
                <a:schemeClr val="dk1"/>
              </a:solidFill>
              <a:highlight>
                <a:srgbClr val="FFFFFF"/>
              </a:highlight>
              <a:latin typeface="Roboto"/>
              <a:ea typeface="Roboto"/>
              <a:cs typeface="Roboto"/>
              <a:sym typeface="Roboto"/>
            </a:endParaRPr>
          </a:p>
          <a:p>
            <a:pPr indent="-342900" lvl="0" marL="342900" marR="0" rtl="0" algn="just">
              <a:lnSpc>
                <a:spcPct val="150000"/>
              </a:lnSpc>
              <a:spcBef>
                <a:spcPts val="0"/>
              </a:spcBef>
              <a:spcAft>
                <a:spcPts val="0"/>
              </a:spcAft>
              <a:buClr>
                <a:srgbClr val="000000"/>
              </a:buClr>
              <a:buSzPts val="1400"/>
              <a:buFont typeface="Noto Sans Symbols"/>
              <a:buChar char="✔"/>
            </a:pPr>
            <a:r>
              <a:rPr lang="es-ES" sz="1400">
                <a:solidFill>
                  <a:srgbClr val="000000"/>
                </a:solidFill>
                <a:highlight>
                  <a:srgbClr val="FFFFFF"/>
                </a:highlight>
                <a:latin typeface="Arial"/>
                <a:ea typeface="Arial"/>
                <a:cs typeface="Arial"/>
                <a:sym typeface="Arial"/>
              </a:rPr>
              <a:t>Aunque el rendimiento de la RNA no es el mejor en términos de error absoluto, sigue siendo competitivo. En comparación, el Random Forest tiene un RMSE de 11.27007 y R</a:t>
            </a:r>
            <a:r>
              <a:rPr baseline="30000" lang="es-ES" sz="1400">
                <a:solidFill>
                  <a:srgbClr val="000000"/>
                </a:solidFill>
                <a:highlight>
                  <a:srgbClr val="FFFFFF"/>
                </a:highlight>
                <a:latin typeface="Arial"/>
                <a:ea typeface="Arial"/>
                <a:cs typeface="Arial"/>
                <a:sym typeface="Arial"/>
              </a:rPr>
              <a:t>2</a:t>
            </a:r>
            <a:r>
              <a:rPr lang="es-ES" sz="1400">
                <a:solidFill>
                  <a:srgbClr val="000000"/>
                </a:solidFill>
                <a:highlight>
                  <a:srgbClr val="FFFFFF"/>
                </a:highlight>
                <a:latin typeface="Arial"/>
                <a:ea typeface="Arial"/>
                <a:cs typeface="Arial"/>
                <a:sym typeface="Arial"/>
              </a:rPr>
              <a:t> de 98.77%, pero a costa de tiempos de ejecución mucho más largos.</a:t>
            </a:r>
            <a:endParaRPr sz="1400">
              <a:solidFill>
                <a:schemeClr val="dk1"/>
              </a:solidFill>
              <a:highlight>
                <a:srgbClr val="FFFFFF"/>
              </a:highlight>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nvSpPr>
        <p:spPr>
          <a:xfrm>
            <a:off x="0" y="300247"/>
            <a:ext cx="7921256" cy="731112"/>
          </a:xfrm>
          <a:prstGeom prst="rect">
            <a:avLst/>
          </a:prstGeom>
          <a:solidFill>
            <a:srgbClr val="0A3041"/>
          </a:solidFill>
          <a:ln>
            <a:noFill/>
          </a:ln>
        </p:spPr>
        <p:txBody>
          <a:bodyPr anchorCtr="0" anchor="ctr" bIns="45700" lIns="91425" spcFirstLastPara="1" rIns="91425" wrap="square" tIns="45700">
            <a:normAutofit fontScale="85000" lnSpcReduction="10000"/>
          </a:bodyPr>
          <a:lstStyle/>
          <a:p>
            <a:pPr indent="0" lvl="0" marL="0" marR="0" rtl="0" algn="l">
              <a:lnSpc>
                <a:spcPct val="90000"/>
              </a:lnSpc>
              <a:spcBef>
                <a:spcPts val="0"/>
              </a:spcBef>
              <a:spcAft>
                <a:spcPts val="0"/>
              </a:spcAft>
              <a:buClr>
                <a:schemeClr val="lt1"/>
              </a:buClr>
              <a:buSzPct val="100000"/>
              <a:buFont typeface="Play"/>
              <a:buNone/>
            </a:pPr>
            <a:r>
              <a:rPr lang="es-ES" sz="3600">
                <a:solidFill>
                  <a:schemeClr val="lt1"/>
                </a:solidFill>
                <a:latin typeface="Play"/>
                <a:ea typeface="Play"/>
                <a:cs typeface="Play"/>
                <a:sym typeface="Play"/>
              </a:rPr>
              <a:t>EXPLICACIÓN DEL MODELO CHAMPION RNA</a:t>
            </a:r>
            <a:endParaRPr sz="3600">
              <a:solidFill>
                <a:schemeClr val="lt1"/>
              </a:solidFill>
              <a:latin typeface="Play"/>
              <a:ea typeface="Play"/>
              <a:cs typeface="Play"/>
              <a:sym typeface="Play"/>
            </a:endParaRPr>
          </a:p>
        </p:txBody>
      </p:sp>
      <p:sp>
        <p:nvSpPr>
          <p:cNvPr id="356" name="Google Shape;356;p33"/>
          <p:cNvSpPr txBox="1"/>
          <p:nvPr/>
        </p:nvSpPr>
        <p:spPr>
          <a:xfrm>
            <a:off x="122275" y="1360990"/>
            <a:ext cx="8724013"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Arial"/>
                <a:ea typeface="Arial"/>
                <a:cs typeface="Arial"/>
                <a:sym typeface="Arial"/>
              </a:rPr>
              <a:t>Se realizó un modelo RNA para la predicción del downtime, la red neuronal secuencial diseñada consta de cuatro capas: una capa de normalización para ajustar las entradas, seguida de dos capas densas ocultas con 64 neuronas cada una, y una capa de salida con una única neurona para generar la predicción.</a:t>
            </a:r>
            <a:endParaRPr sz="1800">
              <a:solidFill>
                <a:schemeClr val="dk1"/>
              </a:solidFill>
              <a:latin typeface="Arial"/>
              <a:ea typeface="Arial"/>
              <a:cs typeface="Arial"/>
              <a:sym typeface="Arial"/>
            </a:endParaRPr>
          </a:p>
        </p:txBody>
      </p:sp>
      <p:sp>
        <p:nvSpPr>
          <p:cNvPr id="357" name="Google Shape;357;p33"/>
          <p:cNvSpPr txBox="1"/>
          <p:nvPr/>
        </p:nvSpPr>
        <p:spPr>
          <a:xfrm>
            <a:off x="366823" y="2665790"/>
            <a:ext cx="6177516" cy="378052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Entrada: 10 características.</a:t>
            </a:r>
            <a:endParaRPr sz="1800">
              <a:solidFill>
                <a:schemeClr val="dk1"/>
              </a:solidFill>
              <a:highlight>
                <a:srgbClr val="FFFFFF"/>
              </a:highlight>
              <a:latin typeface="Arial"/>
              <a:ea typeface="Arial"/>
              <a:cs typeface="Arial"/>
              <a:sym typeface="Arial"/>
            </a:endParaRPr>
          </a:p>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Capa de Normalización: Preprocesa las entradas, ajustando media y desviación estándar.</a:t>
            </a:r>
            <a:endParaRPr sz="1800">
              <a:solidFill>
                <a:schemeClr val="dk1"/>
              </a:solidFill>
              <a:highlight>
                <a:srgbClr val="FFFFFF"/>
              </a:highlight>
              <a:latin typeface="Arial"/>
              <a:ea typeface="Arial"/>
              <a:cs typeface="Arial"/>
              <a:sym typeface="Arial"/>
            </a:endParaRPr>
          </a:p>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Capas Ocultas: 2 capas densas, cada una con 64 neuronas y activación ReLU.</a:t>
            </a:r>
            <a:endParaRPr sz="1800">
              <a:solidFill>
                <a:schemeClr val="dk1"/>
              </a:solidFill>
              <a:highlight>
                <a:srgbClr val="FFFFFF"/>
              </a:highlight>
              <a:latin typeface="Arial"/>
              <a:ea typeface="Arial"/>
              <a:cs typeface="Arial"/>
              <a:sym typeface="Arial"/>
            </a:endParaRPr>
          </a:p>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Capa de Salida: 1 neurona, adecuada para predicciones continuas (regresión).</a:t>
            </a:r>
            <a:endParaRPr sz="1800">
              <a:solidFill>
                <a:schemeClr val="dk1"/>
              </a:solidFill>
              <a:highlight>
                <a:srgbClr val="FFFFFF"/>
              </a:highlight>
              <a:latin typeface="Arial"/>
              <a:ea typeface="Arial"/>
              <a:cs typeface="Arial"/>
              <a:sym typeface="Arial"/>
            </a:endParaRPr>
          </a:p>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Función de pérdida: Error Cuadrático Medio (MSE).</a:t>
            </a:r>
            <a:endParaRPr sz="1800">
              <a:solidFill>
                <a:schemeClr val="dk1"/>
              </a:solidFill>
              <a:highlight>
                <a:srgbClr val="FFFFFF"/>
              </a:highlight>
              <a:latin typeface="Arial"/>
              <a:ea typeface="Arial"/>
              <a:cs typeface="Arial"/>
              <a:sym typeface="Arial"/>
            </a:endParaRPr>
          </a:p>
          <a:p>
            <a:pPr indent="-342900" lvl="0" marL="342900" marR="0" rtl="0" algn="just">
              <a:lnSpc>
                <a:spcPct val="150000"/>
              </a:lnSpc>
              <a:spcBef>
                <a:spcPts val="0"/>
              </a:spcBef>
              <a:spcAft>
                <a:spcPts val="0"/>
              </a:spcAft>
              <a:buClr>
                <a:srgbClr val="000000"/>
              </a:buClr>
              <a:buSzPts val="1800"/>
              <a:buFont typeface="Noto Sans Symbols"/>
              <a:buChar char="∙"/>
            </a:pPr>
            <a:r>
              <a:rPr lang="es-ES" sz="1800">
                <a:solidFill>
                  <a:srgbClr val="000000"/>
                </a:solidFill>
                <a:highlight>
                  <a:srgbClr val="FFFFFF"/>
                </a:highlight>
                <a:latin typeface="Arial"/>
                <a:ea typeface="Arial"/>
                <a:cs typeface="Arial"/>
                <a:sym typeface="Arial"/>
              </a:rPr>
              <a:t>Optimizador: Adam con tasa de aprendizaje 0.01.</a:t>
            </a:r>
            <a:endParaRPr sz="1800">
              <a:solidFill>
                <a:schemeClr val="dk1"/>
              </a:solidFill>
              <a:highlight>
                <a:srgbClr val="FFFFFF"/>
              </a:highlight>
              <a:latin typeface="Arial"/>
              <a:ea typeface="Arial"/>
              <a:cs typeface="Arial"/>
              <a:sym typeface="Arial"/>
            </a:endParaRPr>
          </a:p>
        </p:txBody>
      </p:sp>
      <p:pic>
        <p:nvPicPr>
          <p:cNvPr descr="A screenshot of a computer&#10;&#10;Description automatically generated" id="358" name="Google Shape;358;p33"/>
          <p:cNvPicPr preferRelativeResize="0"/>
          <p:nvPr/>
        </p:nvPicPr>
        <p:blipFill rotWithShape="1">
          <a:blip r:embed="rId3">
            <a:alphaModFix/>
          </a:blip>
          <a:srcRect b="0" l="0" r="0" t="0"/>
          <a:stretch/>
        </p:blipFill>
        <p:spPr>
          <a:xfrm>
            <a:off x="7039329" y="3233840"/>
            <a:ext cx="4569222" cy="1883712"/>
          </a:xfrm>
          <a:prstGeom prst="rect">
            <a:avLst/>
          </a:prstGeom>
          <a:noFill/>
          <a:ln>
            <a:noFill/>
          </a:ln>
        </p:spPr>
      </p:pic>
      <p:pic>
        <p:nvPicPr>
          <p:cNvPr descr="Trophy with solid fill" id="359" name="Google Shape;359;p33"/>
          <p:cNvPicPr preferRelativeResize="0"/>
          <p:nvPr/>
        </p:nvPicPr>
        <p:blipFill rotWithShape="1">
          <a:blip r:embed="rId4">
            <a:alphaModFix/>
          </a:blip>
          <a:srcRect b="0" l="0" r="0" t="0"/>
          <a:stretch/>
        </p:blipFill>
        <p:spPr>
          <a:xfrm>
            <a:off x="9199893" y="967311"/>
            <a:ext cx="1698479" cy="169847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A graph of data and data&#10;&#10;Description automatically generated" id="364" name="Google Shape;364;p34"/>
          <p:cNvPicPr preferRelativeResize="0"/>
          <p:nvPr/>
        </p:nvPicPr>
        <p:blipFill rotWithShape="1">
          <a:blip r:embed="rId3">
            <a:alphaModFix/>
          </a:blip>
          <a:srcRect b="0" l="0" r="0" t="0"/>
          <a:stretch/>
        </p:blipFill>
        <p:spPr>
          <a:xfrm>
            <a:off x="6950148" y="716731"/>
            <a:ext cx="4043916" cy="4056170"/>
          </a:xfrm>
          <a:prstGeom prst="rect">
            <a:avLst/>
          </a:prstGeom>
          <a:noFill/>
          <a:ln>
            <a:noFill/>
          </a:ln>
          <a:effectLst>
            <a:outerShdw blurRad="50800" rotWithShape="0" algn="tl" dir="2700000" dist="38100">
              <a:srgbClr val="000000">
                <a:alpha val="40000"/>
              </a:srgbClr>
            </a:outerShdw>
          </a:effectLst>
        </p:spPr>
      </p:pic>
      <p:pic>
        <p:nvPicPr>
          <p:cNvPr descr="A screenshot of a computer code&#10;&#10;Description automatically generated" id="365" name="Google Shape;365;p34"/>
          <p:cNvPicPr preferRelativeResize="0"/>
          <p:nvPr/>
        </p:nvPicPr>
        <p:blipFill rotWithShape="1">
          <a:blip r:embed="rId4">
            <a:alphaModFix/>
          </a:blip>
          <a:srcRect b="0" l="0" r="0" t="0"/>
          <a:stretch/>
        </p:blipFill>
        <p:spPr>
          <a:xfrm>
            <a:off x="7796411" y="5001179"/>
            <a:ext cx="2511554" cy="878626"/>
          </a:xfrm>
          <a:prstGeom prst="rect">
            <a:avLst/>
          </a:prstGeom>
          <a:noFill/>
          <a:ln>
            <a:noFill/>
          </a:ln>
          <a:effectLst>
            <a:outerShdw blurRad="50800" rotWithShape="0" algn="tl" dir="2700000" dist="38100">
              <a:srgbClr val="000000">
                <a:alpha val="40000"/>
              </a:srgbClr>
            </a:outerShdw>
          </a:effectLst>
        </p:spPr>
      </p:pic>
      <p:sp>
        <p:nvSpPr>
          <p:cNvPr id="366" name="Google Shape;366;p34"/>
          <p:cNvSpPr txBox="1"/>
          <p:nvPr/>
        </p:nvSpPr>
        <p:spPr>
          <a:xfrm>
            <a:off x="709724" y="1520247"/>
            <a:ext cx="5726518"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Arial"/>
                <a:ea typeface="Arial"/>
                <a:cs typeface="Arial"/>
                <a:sym typeface="Arial"/>
              </a:rPr>
              <a:t>La pérdida disminuye y se estabiliza tanto en entrenamiento como en validación, lo que indica que el modelo está aprendiendo correctamente sin sobreajustar. R² Se mantiene alto y estable en ambos conjuntos, lo que indica un buen poder predictivo del modelo tanto en los datos de entrenamiento como en los de validación. En conjunto, este gráfico indica que el modelo está entrenando de manera efectiva y generaliza bien a los datos de validación.</a:t>
            </a:r>
            <a:endParaRPr sz="18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nvSpPr>
        <p:spPr>
          <a:xfrm>
            <a:off x="326951" y="406391"/>
            <a:ext cx="4255682" cy="170713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El modelo RNA se expresa matemáticamente de la siguiente forma:</a:t>
            </a:r>
            <a:endParaRPr sz="1800">
              <a:solidFill>
                <a:schemeClr val="dk1"/>
              </a:solidFill>
              <a:highlight>
                <a:srgbClr val="FFFFFF"/>
              </a:highlight>
              <a:latin typeface="Roboto"/>
              <a:ea typeface="Roboto"/>
              <a:cs typeface="Roboto"/>
              <a:sym typeface="Roboto"/>
            </a:endParaRPr>
          </a:p>
          <a:p>
            <a:pPr indent="0" lvl="0" marL="0" marR="0" rtl="0" algn="just">
              <a:lnSpc>
                <a:spcPct val="150000"/>
              </a:lnSpc>
              <a:spcBef>
                <a:spcPts val="0"/>
              </a:spcBef>
              <a:spcAft>
                <a:spcPts val="0"/>
              </a:spcAft>
              <a:buNone/>
            </a:pPr>
            <a:r>
              <a:rPr b="1" lang="es-ES" sz="1800">
                <a:solidFill>
                  <a:schemeClr val="dk1"/>
                </a:solidFill>
                <a:highlight>
                  <a:srgbClr val="FFFFFF"/>
                </a:highlight>
                <a:latin typeface="Arial"/>
                <a:ea typeface="Arial"/>
                <a:cs typeface="Arial"/>
                <a:sym typeface="Arial"/>
              </a:rPr>
              <a:t> </a:t>
            </a:r>
            <a:endParaRPr sz="1800">
              <a:solidFill>
                <a:schemeClr val="dk1"/>
              </a:solidFill>
              <a:highlight>
                <a:srgbClr val="FFFFFF"/>
              </a:highlight>
              <a:latin typeface="Roboto"/>
              <a:ea typeface="Roboto"/>
              <a:cs typeface="Roboto"/>
              <a:sym typeface="Roboto"/>
            </a:endParaRPr>
          </a:p>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El vector de entrada es:</a:t>
            </a:r>
            <a:endParaRPr sz="1800">
              <a:solidFill>
                <a:schemeClr val="dk1"/>
              </a:solidFill>
              <a:highlight>
                <a:srgbClr val="FFFFFF"/>
              </a:highlight>
              <a:latin typeface="Roboto"/>
              <a:ea typeface="Roboto"/>
              <a:cs typeface="Roboto"/>
              <a:sym typeface="Roboto"/>
            </a:endParaRPr>
          </a:p>
        </p:txBody>
      </p:sp>
      <p:pic>
        <p:nvPicPr>
          <p:cNvPr descr="A rectangular object with black text&#10;&#10;Description automatically generated" id="372" name="Google Shape;372;p35"/>
          <p:cNvPicPr preferRelativeResize="0"/>
          <p:nvPr/>
        </p:nvPicPr>
        <p:blipFill rotWithShape="1">
          <a:blip r:embed="rId3">
            <a:alphaModFix/>
          </a:blip>
          <a:srcRect b="0" l="0" r="0" t="0"/>
          <a:stretch/>
        </p:blipFill>
        <p:spPr>
          <a:xfrm>
            <a:off x="527493" y="2374151"/>
            <a:ext cx="1882818" cy="2109698"/>
          </a:xfrm>
          <a:prstGeom prst="rect">
            <a:avLst/>
          </a:prstGeom>
          <a:noFill/>
          <a:ln>
            <a:noFill/>
          </a:ln>
          <a:effectLst>
            <a:outerShdw blurRad="50800" rotWithShape="0" algn="tl" dir="2700000" dist="38100">
              <a:srgbClr val="000000">
                <a:alpha val="40000"/>
              </a:srgbClr>
            </a:outerShdw>
          </a:effectLst>
        </p:spPr>
      </p:pic>
      <p:sp>
        <p:nvSpPr>
          <p:cNvPr id="373" name="Google Shape;373;p35"/>
          <p:cNvSpPr txBox="1"/>
          <p:nvPr/>
        </p:nvSpPr>
        <p:spPr>
          <a:xfrm>
            <a:off x="5334886" y="290262"/>
            <a:ext cx="6097772" cy="8761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Para cada neurona </a:t>
            </a:r>
            <a:r>
              <a:rPr i="1" lang="es-ES" sz="1800">
                <a:solidFill>
                  <a:srgbClr val="000000"/>
                </a:solidFill>
                <a:highlight>
                  <a:srgbClr val="FFFFFF"/>
                </a:highlight>
                <a:latin typeface="Arial"/>
                <a:ea typeface="Arial"/>
                <a:cs typeface="Arial"/>
                <a:sym typeface="Arial"/>
              </a:rPr>
              <a:t>j </a:t>
            </a:r>
            <a:r>
              <a:rPr lang="es-ES" sz="1800">
                <a:solidFill>
                  <a:srgbClr val="000000"/>
                </a:solidFill>
                <a:highlight>
                  <a:srgbClr val="FFFFFF"/>
                </a:highlight>
                <a:latin typeface="Arial"/>
                <a:ea typeface="Arial"/>
                <a:cs typeface="Arial"/>
                <a:sym typeface="Arial"/>
              </a:rPr>
              <a:t>de la primera capa (</a:t>
            </a:r>
            <a:r>
              <a:rPr i="1" lang="es-ES" sz="1800">
                <a:solidFill>
                  <a:srgbClr val="000000"/>
                </a:solidFill>
                <a:highlight>
                  <a:srgbClr val="FFFFFF"/>
                </a:highlight>
                <a:latin typeface="Arial"/>
                <a:ea typeface="Arial"/>
                <a:cs typeface="Arial"/>
                <a:sym typeface="Arial"/>
              </a:rPr>
              <a:t>donde j=1,…,64</a:t>
            </a:r>
            <a:r>
              <a:rPr lang="es-ES" sz="1800">
                <a:solidFill>
                  <a:srgbClr val="000000"/>
                </a:solidFill>
                <a:highlight>
                  <a:srgbClr val="FFFFFF"/>
                </a:highlight>
                <a:latin typeface="Arial"/>
                <a:ea typeface="Arial"/>
                <a:cs typeface="Arial"/>
                <a:sym typeface="Arial"/>
              </a:rPr>
              <a:t>), la salida se calcula como:</a:t>
            </a:r>
            <a:endParaRPr sz="1800">
              <a:solidFill>
                <a:schemeClr val="dk1"/>
              </a:solidFill>
              <a:highlight>
                <a:srgbClr val="FFFFFF"/>
              </a:highlight>
              <a:latin typeface="Roboto"/>
              <a:ea typeface="Roboto"/>
              <a:cs typeface="Roboto"/>
              <a:sym typeface="Roboto"/>
            </a:endParaRPr>
          </a:p>
        </p:txBody>
      </p:sp>
      <p:pic>
        <p:nvPicPr>
          <p:cNvPr descr="A math equation with black text&#10;&#10;Description automatically generated with medium confidence" id="374" name="Google Shape;374;p35"/>
          <p:cNvPicPr preferRelativeResize="0"/>
          <p:nvPr/>
        </p:nvPicPr>
        <p:blipFill rotWithShape="1">
          <a:blip r:embed="rId4">
            <a:alphaModFix/>
          </a:blip>
          <a:srcRect b="0" l="0" r="0" t="0"/>
          <a:stretch/>
        </p:blipFill>
        <p:spPr>
          <a:xfrm>
            <a:off x="5489981" y="1166399"/>
            <a:ext cx="3444875" cy="763270"/>
          </a:xfrm>
          <a:prstGeom prst="rect">
            <a:avLst/>
          </a:prstGeom>
          <a:noFill/>
          <a:ln>
            <a:noFill/>
          </a:ln>
          <a:effectLst>
            <a:outerShdw blurRad="50800" rotWithShape="0" algn="tl" dir="2700000" dist="38100">
              <a:srgbClr val="000000">
                <a:alpha val="40000"/>
              </a:srgbClr>
            </a:outerShdw>
          </a:effectLst>
        </p:spPr>
      </p:pic>
      <p:sp>
        <p:nvSpPr>
          <p:cNvPr id="375" name="Google Shape;375;p35"/>
          <p:cNvSpPr txBox="1"/>
          <p:nvPr/>
        </p:nvSpPr>
        <p:spPr>
          <a:xfrm>
            <a:off x="5334886" y="1929669"/>
            <a:ext cx="6097772" cy="46063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La activación de cada neurona en la primera capa es:</a:t>
            </a:r>
            <a:endParaRPr sz="1800">
              <a:solidFill>
                <a:schemeClr val="dk1"/>
              </a:solidFill>
              <a:highlight>
                <a:srgbClr val="FFFFFF"/>
              </a:highlight>
              <a:latin typeface="Roboto"/>
              <a:ea typeface="Roboto"/>
              <a:cs typeface="Roboto"/>
              <a:sym typeface="Roboto"/>
            </a:endParaRPr>
          </a:p>
        </p:txBody>
      </p:sp>
      <p:pic>
        <p:nvPicPr>
          <p:cNvPr descr="A black text on a white background&#10;&#10;Description automatically generated" id="376" name="Google Shape;376;p35"/>
          <p:cNvPicPr preferRelativeResize="0"/>
          <p:nvPr/>
        </p:nvPicPr>
        <p:blipFill rotWithShape="1">
          <a:blip r:embed="rId5">
            <a:alphaModFix/>
          </a:blip>
          <a:srcRect b="0" l="0" r="0" t="0"/>
          <a:stretch/>
        </p:blipFill>
        <p:spPr>
          <a:xfrm>
            <a:off x="5489981" y="2576253"/>
            <a:ext cx="3136900" cy="459105"/>
          </a:xfrm>
          <a:prstGeom prst="rect">
            <a:avLst/>
          </a:prstGeom>
          <a:noFill/>
          <a:ln>
            <a:noFill/>
          </a:ln>
          <a:effectLst>
            <a:outerShdw blurRad="50800" rotWithShape="0" algn="tl" dir="2700000" dist="38100">
              <a:srgbClr val="000000">
                <a:alpha val="40000"/>
              </a:srgbClr>
            </a:outerShdw>
          </a:effectLst>
        </p:spPr>
      </p:pic>
      <p:sp>
        <p:nvSpPr>
          <p:cNvPr id="377" name="Google Shape;377;p35"/>
          <p:cNvSpPr txBox="1"/>
          <p:nvPr/>
        </p:nvSpPr>
        <p:spPr>
          <a:xfrm>
            <a:off x="5302989" y="3153578"/>
            <a:ext cx="6097772" cy="8761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Para cada neurona </a:t>
            </a:r>
            <a:r>
              <a:rPr i="1" lang="es-ES" sz="1800">
                <a:solidFill>
                  <a:srgbClr val="000000"/>
                </a:solidFill>
                <a:highlight>
                  <a:srgbClr val="FFFFFF"/>
                </a:highlight>
                <a:latin typeface="Arial"/>
                <a:ea typeface="Arial"/>
                <a:cs typeface="Arial"/>
                <a:sym typeface="Arial"/>
              </a:rPr>
              <a:t>j </a:t>
            </a:r>
            <a:r>
              <a:rPr lang="es-ES" sz="1800">
                <a:solidFill>
                  <a:srgbClr val="000000"/>
                </a:solidFill>
                <a:highlight>
                  <a:srgbClr val="FFFFFF"/>
                </a:highlight>
                <a:latin typeface="Arial"/>
                <a:ea typeface="Arial"/>
                <a:cs typeface="Arial"/>
                <a:sym typeface="Arial"/>
              </a:rPr>
              <a:t>de la segunda capa (</a:t>
            </a:r>
            <a:r>
              <a:rPr i="1" lang="es-ES" sz="1800">
                <a:solidFill>
                  <a:srgbClr val="000000"/>
                </a:solidFill>
                <a:highlight>
                  <a:srgbClr val="FFFFFF"/>
                </a:highlight>
                <a:latin typeface="Arial"/>
                <a:ea typeface="Arial"/>
                <a:cs typeface="Arial"/>
                <a:sym typeface="Arial"/>
              </a:rPr>
              <a:t>donde j=1,…,64</a:t>
            </a:r>
            <a:r>
              <a:rPr lang="es-ES" sz="1800">
                <a:solidFill>
                  <a:srgbClr val="000000"/>
                </a:solidFill>
                <a:highlight>
                  <a:srgbClr val="FFFFFF"/>
                </a:highlight>
                <a:latin typeface="Arial"/>
                <a:ea typeface="Arial"/>
                <a:cs typeface="Arial"/>
                <a:sym typeface="Arial"/>
              </a:rPr>
              <a:t>), la salida se calcula como:</a:t>
            </a:r>
            <a:endParaRPr sz="1800">
              <a:solidFill>
                <a:schemeClr val="dk1"/>
              </a:solidFill>
              <a:highlight>
                <a:srgbClr val="FFFFFF"/>
              </a:highlight>
              <a:latin typeface="Roboto"/>
              <a:ea typeface="Roboto"/>
              <a:cs typeface="Roboto"/>
              <a:sym typeface="Roboto"/>
            </a:endParaRPr>
          </a:p>
        </p:txBody>
      </p:sp>
      <p:pic>
        <p:nvPicPr>
          <p:cNvPr descr="A math equations on a white background&#10;&#10;Description automatically generated" id="378" name="Google Shape;378;p35"/>
          <p:cNvPicPr preferRelativeResize="0"/>
          <p:nvPr/>
        </p:nvPicPr>
        <p:blipFill rotWithShape="1">
          <a:blip r:embed="rId6">
            <a:alphaModFix/>
          </a:blip>
          <a:srcRect b="0" l="0" r="0" t="0"/>
          <a:stretch/>
        </p:blipFill>
        <p:spPr>
          <a:xfrm>
            <a:off x="5302989" y="4163884"/>
            <a:ext cx="3490595" cy="683260"/>
          </a:xfrm>
          <a:prstGeom prst="rect">
            <a:avLst/>
          </a:prstGeom>
          <a:noFill/>
          <a:ln>
            <a:noFill/>
          </a:ln>
          <a:effectLst>
            <a:outerShdw blurRad="50800" rotWithShape="0" algn="tl" dir="2700000" dist="38100">
              <a:srgbClr val="000000">
                <a:alpha val="40000"/>
              </a:srgbClr>
            </a:outerShdw>
          </a:effectLst>
        </p:spPr>
      </p:pic>
      <p:sp>
        <p:nvSpPr>
          <p:cNvPr id="379" name="Google Shape;379;p35"/>
          <p:cNvSpPr txBox="1"/>
          <p:nvPr/>
        </p:nvSpPr>
        <p:spPr>
          <a:xfrm>
            <a:off x="5334886" y="4971705"/>
            <a:ext cx="6097772" cy="46063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La activación de cada neurona en la segunda capa es:</a:t>
            </a:r>
            <a:endParaRPr sz="1800">
              <a:solidFill>
                <a:schemeClr val="dk1"/>
              </a:solidFill>
              <a:highlight>
                <a:srgbClr val="FFFFFF"/>
              </a:highlight>
              <a:latin typeface="Roboto"/>
              <a:ea typeface="Roboto"/>
              <a:cs typeface="Roboto"/>
              <a:sym typeface="Roboto"/>
            </a:endParaRPr>
          </a:p>
        </p:txBody>
      </p:sp>
      <p:pic>
        <p:nvPicPr>
          <p:cNvPr id="380" name="Google Shape;380;p35"/>
          <p:cNvPicPr preferRelativeResize="0"/>
          <p:nvPr/>
        </p:nvPicPr>
        <p:blipFill rotWithShape="1">
          <a:blip r:embed="rId7">
            <a:alphaModFix/>
          </a:blip>
          <a:srcRect b="0" l="0" r="30930" t="1963"/>
          <a:stretch/>
        </p:blipFill>
        <p:spPr>
          <a:xfrm>
            <a:off x="5489981" y="5632704"/>
            <a:ext cx="3302635" cy="41338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6"/>
          <p:cNvSpPr txBox="1"/>
          <p:nvPr/>
        </p:nvSpPr>
        <p:spPr>
          <a:xfrm>
            <a:off x="879844" y="821890"/>
            <a:ext cx="6097772" cy="8761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rgbClr val="000000"/>
                </a:solidFill>
                <a:highlight>
                  <a:srgbClr val="FFFFFF"/>
                </a:highlight>
                <a:latin typeface="Arial"/>
                <a:ea typeface="Arial"/>
                <a:cs typeface="Arial"/>
                <a:sym typeface="Arial"/>
              </a:rPr>
              <a:t>La salida final del modelo es un valor único, que se calcula como:</a:t>
            </a:r>
            <a:endParaRPr sz="1800">
              <a:solidFill>
                <a:schemeClr val="dk1"/>
              </a:solidFill>
              <a:highlight>
                <a:srgbClr val="FFFFFF"/>
              </a:highlight>
              <a:latin typeface="Roboto"/>
              <a:ea typeface="Roboto"/>
              <a:cs typeface="Roboto"/>
              <a:sym typeface="Roboto"/>
            </a:endParaRPr>
          </a:p>
        </p:txBody>
      </p:sp>
      <p:pic>
        <p:nvPicPr>
          <p:cNvPr descr="A math equations with a plus and a number&#10;&#10;Description automatically generated" id="386" name="Google Shape;386;p36"/>
          <p:cNvPicPr preferRelativeResize="0"/>
          <p:nvPr/>
        </p:nvPicPr>
        <p:blipFill rotWithShape="1">
          <a:blip r:embed="rId3">
            <a:alphaModFix/>
          </a:blip>
          <a:srcRect b="0" l="0" r="0" t="0"/>
          <a:stretch/>
        </p:blipFill>
        <p:spPr>
          <a:xfrm>
            <a:off x="879844" y="1856082"/>
            <a:ext cx="4118610" cy="530225"/>
          </a:xfrm>
          <a:prstGeom prst="rect">
            <a:avLst/>
          </a:prstGeom>
          <a:noFill/>
          <a:ln cap="flat" cmpd="sng" w="9525">
            <a:solidFill>
              <a:srgbClr val="FF0000"/>
            </a:solidFill>
            <a:prstDash val="solid"/>
            <a:round/>
            <a:headEnd len="sm" w="sm" type="none"/>
            <a:tailEnd len="sm" w="sm" type="none"/>
          </a:ln>
        </p:spPr>
      </p:pic>
      <p:pic>
        <p:nvPicPr>
          <p:cNvPr id="387" name="Google Shape;387;p36"/>
          <p:cNvPicPr preferRelativeResize="0"/>
          <p:nvPr/>
        </p:nvPicPr>
        <p:blipFill rotWithShape="1">
          <a:blip r:embed="rId4">
            <a:alphaModFix/>
          </a:blip>
          <a:srcRect b="0" l="0" r="0" t="0"/>
          <a:stretch/>
        </p:blipFill>
        <p:spPr>
          <a:xfrm>
            <a:off x="879844" y="2544362"/>
            <a:ext cx="7667625" cy="3133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7"/>
          <p:cNvSpPr txBox="1"/>
          <p:nvPr>
            <p:ph type="title"/>
          </p:nvPr>
        </p:nvSpPr>
        <p:spPr>
          <a:xfrm>
            <a:off x="0" y="272489"/>
            <a:ext cx="5039833" cy="833297"/>
          </a:xfrm>
          <a:prstGeom prst="rect">
            <a:avLst/>
          </a:prstGeom>
          <a:solidFill>
            <a:srgbClr val="0A3041"/>
          </a:solidFill>
          <a:ln>
            <a:noFill/>
          </a:ln>
        </p:spPr>
        <p:txBody>
          <a:bodyPr anchorCtr="0" anchor="ctr" bIns="45700" lIns="91425" spcFirstLastPara="1" rIns="91425" wrap="square" tIns="45700">
            <a:normAutofit fontScale="925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COSTO DE LA SOLUCIÓN</a:t>
            </a:r>
            <a:endParaRPr sz="3600">
              <a:solidFill>
                <a:schemeClr val="lt1"/>
              </a:solidFill>
            </a:endParaRPr>
          </a:p>
        </p:txBody>
      </p:sp>
      <p:graphicFrame>
        <p:nvGraphicFramePr>
          <p:cNvPr id="393" name="Google Shape;393;p37"/>
          <p:cNvGraphicFramePr/>
          <p:nvPr/>
        </p:nvGraphicFramePr>
        <p:xfrm>
          <a:off x="1074638" y="1612971"/>
          <a:ext cx="3000000" cy="3000000"/>
        </p:xfrm>
        <a:graphic>
          <a:graphicData uri="http://schemas.openxmlformats.org/drawingml/2006/table">
            <a:tbl>
              <a:tblPr bandRow="1" firstCol="1" firstRow="1">
                <a:noFill/>
                <a:tableStyleId>{07FE5F46-EEA6-4C2A-8F00-2A03C660FC93}</a:tableStyleId>
              </a:tblPr>
              <a:tblGrid>
                <a:gridCol w="1053300"/>
                <a:gridCol w="3355950"/>
                <a:gridCol w="1316625"/>
              </a:tblGrid>
              <a:tr h="339400">
                <a:tc>
                  <a:txBody>
                    <a:bodyPr/>
                    <a:lstStyle/>
                    <a:p>
                      <a:pPr indent="0" lvl="0" marL="0" marR="0" rtl="0" algn="ctr">
                        <a:spcBef>
                          <a:spcPts val="0"/>
                        </a:spcBef>
                        <a:spcAft>
                          <a:spcPts val="0"/>
                        </a:spcAft>
                        <a:buNone/>
                      </a:pPr>
                      <a:r>
                        <a:rPr lang="es-ES" sz="1000" u="none" cap="none" strike="noStrike"/>
                        <a:t>Categoría</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Descripción</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Costo Estimado Anual (USD)</a:t>
                      </a:r>
                      <a:endParaRPr sz="1000" u="none" cap="none" strike="noStrike">
                        <a:latin typeface="Roboto"/>
                        <a:ea typeface="Roboto"/>
                        <a:cs typeface="Roboto"/>
                        <a:sym typeface="Roboto"/>
                      </a:endParaRPr>
                    </a:p>
                  </a:txBody>
                  <a:tcPr marT="0" marB="0" marR="63200" marL="63200" anchor="ctr"/>
                </a:tc>
              </a:tr>
              <a:tr h="308975">
                <a:tc>
                  <a:txBody>
                    <a:bodyPr/>
                    <a:lstStyle/>
                    <a:p>
                      <a:pPr indent="0" lvl="0" marL="0" marR="0" rtl="0" algn="l">
                        <a:spcBef>
                          <a:spcPts val="0"/>
                        </a:spcBef>
                        <a:spcAft>
                          <a:spcPts val="0"/>
                        </a:spcAft>
                        <a:buNone/>
                      </a:pPr>
                      <a:r>
                        <a:rPr lang="es-ES" sz="1000" u="none" cap="none" strike="noStrike"/>
                        <a:t>Servidores</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AWS EC2 instances, 4 servers (c5.large para inferencia en tiempo real)</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$7,200 </a:t>
                      </a:r>
                      <a:endParaRPr sz="1000" u="none" cap="none" strike="noStrike">
                        <a:latin typeface="Roboto"/>
                        <a:ea typeface="Roboto"/>
                        <a:cs typeface="Roboto"/>
                        <a:sym typeface="Roboto"/>
                      </a:endParaRPr>
                    </a:p>
                  </a:txBody>
                  <a:tcPr marT="0" marB="0" marR="63200" marL="63200" anchor="ctr"/>
                </a:tc>
              </a:tr>
              <a:tr h="169700">
                <a:tc>
                  <a:txBody>
                    <a:bodyPr/>
                    <a:lstStyle/>
                    <a:p>
                      <a:pPr indent="0" lvl="0" marL="0" marR="0" rtl="0" algn="l">
                        <a:spcBef>
                          <a:spcPts val="0"/>
                        </a:spcBef>
                        <a:spcAft>
                          <a:spcPts val="0"/>
                        </a:spcAft>
                        <a:buNone/>
                      </a:pPr>
                      <a:r>
                        <a:rPr lang="es-ES" sz="1000" u="none" cap="none" strike="noStrike"/>
                        <a:t>Almacenamiento</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AWS S3, 500 GB</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$360 </a:t>
                      </a:r>
                      <a:endParaRPr sz="1000" u="none" cap="none" strike="noStrike">
                        <a:latin typeface="Roboto"/>
                        <a:ea typeface="Roboto"/>
                        <a:cs typeface="Roboto"/>
                        <a:sym typeface="Roboto"/>
                      </a:endParaRPr>
                    </a:p>
                  </a:txBody>
                  <a:tcPr marT="0" marB="0" marR="63200" marL="63200" anchor="ctr"/>
                </a:tc>
              </a:tr>
              <a:tr h="169700">
                <a:tc>
                  <a:txBody>
                    <a:bodyPr/>
                    <a:lstStyle/>
                    <a:p>
                      <a:pPr indent="0" lvl="0" marL="0" marR="0" rtl="0" algn="l">
                        <a:spcBef>
                          <a:spcPts val="0"/>
                        </a:spcBef>
                        <a:spcAft>
                          <a:spcPts val="0"/>
                        </a:spcAft>
                        <a:buNone/>
                      </a:pPr>
                      <a:r>
                        <a:rPr lang="es-ES" sz="1000" u="none" cap="none" strike="noStrike"/>
                        <a:t>Red</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Ancho de banda y balanceadores</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$1,800 </a:t>
                      </a:r>
                      <a:endParaRPr sz="1000" u="none" cap="none" strike="noStrike">
                        <a:latin typeface="Roboto"/>
                        <a:ea typeface="Roboto"/>
                        <a:cs typeface="Roboto"/>
                        <a:sym typeface="Roboto"/>
                      </a:endParaRPr>
                    </a:p>
                  </a:txBody>
                  <a:tcPr marT="0" marB="0" marR="63200" marL="63200" anchor="ctr"/>
                </a:tc>
              </a:tr>
              <a:tr h="308975">
                <a:tc>
                  <a:txBody>
                    <a:bodyPr/>
                    <a:lstStyle/>
                    <a:p>
                      <a:pPr indent="0" lvl="0" marL="0" marR="0" rtl="0" algn="l">
                        <a:spcBef>
                          <a:spcPts val="0"/>
                        </a:spcBef>
                        <a:spcAft>
                          <a:spcPts val="0"/>
                        </a:spcAft>
                        <a:buNone/>
                      </a:pPr>
                      <a:r>
                        <a:rPr lang="es-ES" sz="1000" u="none" cap="none" strike="noStrike"/>
                        <a:t>Sistema Operativo</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Licencias para Ubuntu Server</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$600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Herramientas de ML</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Licencias para TensorFlow Enterprise (para inferencia optimizada)</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$3,600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Servidores de Inferencia</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AWS SageMaker Endpoint para modelos en producción (inferencias en tiempo real)</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$6,000 </a:t>
                      </a:r>
                      <a:endParaRPr sz="1000" u="none" cap="none" strike="noStrike">
                        <a:latin typeface="Roboto"/>
                        <a:ea typeface="Roboto"/>
                        <a:cs typeface="Roboto"/>
                        <a:sym typeface="Roboto"/>
                      </a:endParaRPr>
                    </a:p>
                  </a:txBody>
                  <a:tcPr marT="0" marB="0" marR="63200" marL="63200" anchor="ctr"/>
                </a:tc>
              </a:tr>
              <a:tr h="169700">
                <a:tc>
                  <a:txBody>
                    <a:bodyPr/>
                    <a:lstStyle/>
                    <a:p>
                      <a:pPr indent="0" lvl="0" marL="0" marR="0" rtl="0" algn="l">
                        <a:spcBef>
                          <a:spcPts val="0"/>
                        </a:spcBef>
                        <a:spcAft>
                          <a:spcPts val="0"/>
                        </a:spcAft>
                        <a:buNone/>
                      </a:pPr>
                      <a:r>
                        <a:rPr lang="es-ES" sz="1000" u="none" cap="none" strike="noStrike"/>
                        <a:t>API Gateway</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AWS API Gateway</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$2,400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Almacenamiento en Memoria</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Redis (1 instancia para caché y respuesta rápida)</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$1,800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Herramientas de Monitoreo</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AWS CloudWatch, Datadog</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$1,200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Mantenimiento de Modelo</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Retrain y ajustes del modelo (3 veces al año)</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$1,500 </a:t>
                      </a:r>
                      <a:endParaRPr sz="1000" u="none" cap="none" strike="noStrike">
                        <a:latin typeface="Roboto"/>
                        <a:ea typeface="Roboto"/>
                        <a:cs typeface="Roboto"/>
                        <a:sym typeface="Roboto"/>
                      </a:endParaRPr>
                    </a:p>
                  </a:txBody>
                  <a:tcPr marT="0" marB="0" marR="63200" marL="63200" anchor="ctr"/>
                </a:tc>
              </a:tr>
              <a:tr h="169700">
                <a:tc>
                  <a:txBody>
                    <a:bodyPr/>
                    <a:lstStyle/>
                    <a:p>
                      <a:pPr indent="0" lvl="0" marL="0" marR="0" rtl="0" algn="l">
                        <a:spcBef>
                          <a:spcPts val="0"/>
                        </a:spcBef>
                        <a:spcAft>
                          <a:spcPts val="0"/>
                        </a:spcAft>
                        <a:buNone/>
                      </a:pPr>
                      <a:r>
                        <a:rPr lang="es-ES" sz="1000" u="none" cap="none" strike="noStrike"/>
                        <a:t>Data Scientist</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Salario estimado en El Salvador</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$30,000 </a:t>
                      </a:r>
                      <a:endParaRPr sz="1000" u="none" cap="none" strike="noStrike">
                        <a:latin typeface="Roboto"/>
                        <a:ea typeface="Roboto"/>
                        <a:cs typeface="Roboto"/>
                        <a:sym typeface="Roboto"/>
                      </a:endParaRPr>
                    </a:p>
                  </a:txBody>
                  <a:tcPr marT="0" marB="0" marR="63200" marL="63200" anchor="ctr"/>
                </a:tc>
              </a:tr>
              <a:tr h="169700">
                <a:tc>
                  <a:txBody>
                    <a:bodyPr/>
                    <a:lstStyle/>
                    <a:p>
                      <a:pPr indent="0" lvl="0" marL="0" marR="0" rtl="0" algn="l">
                        <a:spcBef>
                          <a:spcPts val="0"/>
                        </a:spcBef>
                        <a:spcAft>
                          <a:spcPts val="0"/>
                        </a:spcAft>
                        <a:buNone/>
                      </a:pPr>
                      <a:r>
                        <a:rPr lang="es-ES" sz="1000" u="none" cap="none" strike="noStrike"/>
                        <a:t>Data Engineer</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Salario estimado en El Salvador</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$24,000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Control de Versiones</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Git (repositorio privado en GitHub o GitLab)</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$500 </a:t>
                      </a:r>
                      <a:endParaRPr sz="1000" u="none" cap="none" strike="noStrike">
                        <a:latin typeface="Roboto"/>
                        <a:ea typeface="Roboto"/>
                        <a:cs typeface="Roboto"/>
                        <a:sym typeface="Roboto"/>
                      </a:endParaRPr>
                    </a:p>
                  </a:txBody>
                  <a:tcPr marT="0" marB="0" marR="63200" marL="63200" anchor="ctr"/>
                </a:tc>
              </a:tr>
              <a:tr h="339400">
                <a:tc>
                  <a:txBody>
                    <a:bodyPr/>
                    <a:lstStyle/>
                    <a:p>
                      <a:pPr indent="0" lvl="0" marL="0" marR="0" rtl="0" algn="l">
                        <a:spcBef>
                          <a:spcPts val="0"/>
                        </a:spcBef>
                        <a:spcAft>
                          <a:spcPts val="0"/>
                        </a:spcAft>
                        <a:buNone/>
                      </a:pPr>
                      <a:r>
                        <a:rPr lang="es-ES" sz="1000" u="none" cap="none" strike="noStrike"/>
                        <a:t>Software de Análisis (R)</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l">
                        <a:spcBef>
                          <a:spcPts val="0"/>
                        </a:spcBef>
                        <a:spcAft>
                          <a:spcPts val="0"/>
                        </a:spcAft>
                        <a:buNone/>
                      </a:pPr>
                      <a:r>
                        <a:rPr lang="es-ES" sz="1000" u="none" cap="none" strike="noStrike"/>
                        <a:t>Licencias de RStudio Server o R en entornos productivos</a:t>
                      </a:r>
                      <a:endParaRPr sz="1000" u="none" cap="none" strike="noStrike">
                        <a:latin typeface="Roboto"/>
                        <a:ea typeface="Roboto"/>
                        <a:cs typeface="Roboto"/>
                        <a:sym typeface="Roboto"/>
                      </a:endParaRPr>
                    </a:p>
                  </a:txBody>
                  <a:tcPr marT="0" marB="0" marR="63200" marL="63200" anchor="ctr"/>
                </a:tc>
                <a:tc>
                  <a:txBody>
                    <a:bodyPr/>
                    <a:lstStyle/>
                    <a:p>
                      <a:pPr indent="0" lvl="0" marL="0" marR="0" rtl="0" algn="ctr">
                        <a:spcBef>
                          <a:spcPts val="0"/>
                        </a:spcBef>
                        <a:spcAft>
                          <a:spcPts val="0"/>
                        </a:spcAft>
                        <a:buNone/>
                      </a:pPr>
                      <a:r>
                        <a:rPr lang="es-ES" sz="1000" u="none" cap="none" strike="noStrike"/>
                        <a:t>$1,500 </a:t>
                      </a:r>
                      <a:endParaRPr sz="1000" u="none" cap="none" strike="noStrike">
                        <a:latin typeface="Roboto"/>
                        <a:ea typeface="Roboto"/>
                        <a:cs typeface="Roboto"/>
                        <a:sym typeface="Roboto"/>
                      </a:endParaRPr>
                    </a:p>
                  </a:txBody>
                  <a:tcPr marT="0" marB="0" marR="63200" marL="63200" anchor="ctr"/>
                </a:tc>
              </a:tr>
              <a:tr h="169700">
                <a:tc gridSpan="2">
                  <a:txBody>
                    <a:bodyPr/>
                    <a:lstStyle/>
                    <a:p>
                      <a:pPr indent="0" lvl="0" marL="0" marR="0" rtl="0" algn="ctr">
                        <a:spcBef>
                          <a:spcPts val="0"/>
                        </a:spcBef>
                        <a:spcAft>
                          <a:spcPts val="0"/>
                        </a:spcAft>
                        <a:buNone/>
                      </a:pPr>
                      <a:r>
                        <a:rPr lang="es-ES" sz="1000" u="none" cap="none" strike="noStrike"/>
                        <a:t>TOTAL</a:t>
                      </a:r>
                      <a:endParaRPr sz="1000" u="none" cap="none" strike="noStrike">
                        <a:latin typeface="Roboto"/>
                        <a:ea typeface="Roboto"/>
                        <a:cs typeface="Roboto"/>
                        <a:sym typeface="Roboto"/>
                      </a:endParaRPr>
                    </a:p>
                  </a:txBody>
                  <a:tcPr marT="0" marB="0" marR="63200" marL="63200" anchor="ctr"/>
                </a:tc>
                <a:tc hMerge="1"/>
                <a:tc>
                  <a:txBody>
                    <a:bodyPr/>
                    <a:lstStyle/>
                    <a:p>
                      <a:pPr indent="0" lvl="0" marL="0" marR="0" rtl="0" algn="ctr">
                        <a:spcBef>
                          <a:spcPts val="0"/>
                        </a:spcBef>
                        <a:spcAft>
                          <a:spcPts val="0"/>
                        </a:spcAft>
                        <a:buNone/>
                      </a:pPr>
                      <a:r>
                        <a:rPr lang="es-ES" sz="1000" u="none" cap="none" strike="noStrike"/>
                        <a:t>$82,960 </a:t>
                      </a:r>
                      <a:endParaRPr sz="1000" u="none" cap="none" strike="noStrike">
                        <a:latin typeface="Roboto"/>
                        <a:ea typeface="Roboto"/>
                        <a:cs typeface="Roboto"/>
                        <a:sym typeface="Roboto"/>
                      </a:endParaRPr>
                    </a:p>
                  </a:txBody>
                  <a:tcPr marT="0" marB="0" marR="63200" marL="63200" anchor="ctr"/>
                </a:tc>
              </a:tr>
            </a:tbl>
          </a:graphicData>
        </a:graphic>
      </p:graphicFrame>
      <p:sp>
        <p:nvSpPr>
          <p:cNvPr id="394" name="Google Shape;394;p37"/>
          <p:cNvSpPr txBox="1"/>
          <p:nvPr/>
        </p:nvSpPr>
        <p:spPr>
          <a:xfrm>
            <a:off x="7974418" y="1612971"/>
            <a:ext cx="352571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600">
                <a:solidFill>
                  <a:schemeClr val="dk1"/>
                </a:solidFill>
                <a:latin typeface="Arial"/>
                <a:ea typeface="Arial"/>
                <a:cs typeface="Arial"/>
                <a:sym typeface="Arial"/>
              </a:rPr>
              <a:t>ROI: </a:t>
            </a:r>
            <a:r>
              <a:rPr lang="es-ES" sz="3600">
                <a:solidFill>
                  <a:schemeClr val="dk1"/>
                </a:solidFill>
                <a:latin typeface="Arial"/>
                <a:ea typeface="Arial"/>
                <a:cs typeface="Arial"/>
                <a:sym typeface="Arial"/>
              </a:rPr>
              <a:t>4.56 AÑOS</a:t>
            </a:r>
            <a:endParaRPr sz="3600">
              <a:solidFill>
                <a:schemeClr val="dk1"/>
              </a:solidFill>
              <a:latin typeface="Arial"/>
              <a:ea typeface="Arial"/>
              <a:cs typeface="Arial"/>
              <a:sym typeface="Arial"/>
            </a:endParaRPr>
          </a:p>
        </p:txBody>
      </p:sp>
      <p:sp>
        <p:nvSpPr>
          <p:cNvPr id="395" name="Google Shape;395;p37"/>
          <p:cNvSpPr txBox="1"/>
          <p:nvPr/>
        </p:nvSpPr>
        <p:spPr>
          <a:xfrm>
            <a:off x="7812374" y="2578137"/>
            <a:ext cx="3849805" cy="17081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chemeClr val="dk1"/>
                </a:solidFill>
                <a:latin typeface="Roboto"/>
                <a:ea typeface="Roboto"/>
                <a:cs typeface="Roboto"/>
                <a:sym typeface="Roboto"/>
              </a:rPr>
              <a:t>La solución es descartada automáticamente a menos que la vicepresidencia de manufactura de su aprobación.</a:t>
            </a:r>
            <a:endParaRPr sz="1800">
              <a:solidFill>
                <a:schemeClr val="dk1"/>
              </a:solidFill>
              <a:latin typeface="Roboto"/>
              <a:ea typeface="Roboto"/>
              <a:cs typeface="Roboto"/>
              <a:sym typeface="Roboto"/>
            </a:endParaRPr>
          </a:p>
        </p:txBody>
      </p:sp>
      <p:pic>
        <p:nvPicPr>
          <p:cNvPr descr="Dollar with solid fill" id="396" name="Google Shape;396;p37"/>
          <p:cNvPicPr preferRelativeResize="0"/>
          <p:nvPr/>
        </p:nvPicPr>
        <p:blipFill rotWithShape="1">
          <a:blip r:embed="rId3">
            <a:alphaModFix/>
          </a:blip>
          <a:srcRect b="0" l="0" r="0" t="0"/>
          <a:stretch/>
        </p:blipFill>
        <p:spPr>
          <a:xfrm>
            <a:off x="7244317" y="1478936"/>
            <a:ext cx="914400" cy="914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8"/>
          <p:cNvSpPr txBox="1"/>
          <p:nvPr>
            <p:ph type="title"/>
          </p:nvPr>
        </p:nvSpPr>
        <p:spPr>
          <a:xfrm>
            <a:off x="0" y="556735"/>
            <a:ext cx="4540102" cy="889590"/>
          </a:xfrm>
          <a:prstGeom prst="rect">
            <a:avLst/>
          </a:prstGeom>
          <a:solidFill>
            <a:srgbClr val="0A3041"/>
          </a:solidFill>
          <a:ln>
            <a:noFill/>
          </a:ln>
        </p:spPr>
        <p:txBody>
          <a:bodyPr anchorCtr="0" anchor="ctr" bIns="45700" lIns="91425" spcFirstLastPara="1" rIns="91425" wrap="square" tIns="45700">
            <a:normAutofit fontScale="925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RECOMENDACIONES</a:t>
            </a:r>
            <a:endParaRPr sz="3600">
              <a:solidFill>
                <a:schemeClr val="lt1"/>
              </a:solidFill>
            </a:endParaRPr>
          </a:p>
        </p:txBody>
      </p:sp>
      <p:sp>
        <p:nvSpPr>
          <p:cNvPr id="402" name="Google Shape;402;p38"/>
          <p:cNvSpPr/>
          <p:nvPr/>
        </p:nvSpPr>
        <p:spPr>
          <a:xfrm>
            <a:off x="2473843" y="2051312"/>
            <a:ext cx="7258493" cy="414335"/>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lt1"/>
                </a:solidFill>
                <a:latin typeface="Arial"/>
                <a:ea typeface="Arial"/>
                <a:cs typeface="Arial"/>
                <a:sym typeface="Arial"/>
              </a:rPr>
              <a:t>INGRESAR ORDENES DE TRABAJO EN UN SOFTWARE</a:t>
            </a:r>
            <a:endParaRPr sz="2400">
              <a:solidFill>
                <a:schemeClr val="lt1"/>
              </a:solidFill>
              <a:latin typeface="Arial"/>
              <a:ea typeface="Arial"/>
              <a:cs typeface="Arial"/>
              <a:sym typeface="Arial"/>
            </a:endParaRPr>
          </a:p>
        </p:txBody>
      </p:sp>
      <p:sp>
        <p:nvSpPr>
          <p:cNvPr id="403" name="Google Shape;403;p38"/>
          <p:cNvSpPr/>
          <p:nvPr/>
        </p:nvSpPr>
        <p:spPr>
          <a:xfrm>
            <a:off x="2200941" y="2684567"/>
            <a:ext cx="7896447" cy="414335"/>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lt1"/>
                </a:solidFill>
                <a:latin typeface="Arial"/>
                <a:ea typeface="Arial"/>
                <a:cs typeface="Arial"/>
                <a:sym typeface="Arial"/>
              </a:rPr>
              <a:t>REGISTRAR CAUSA DE ESPERA EN ORDENES DE TRABAJO</a:t>
            </a:r>
            <a:endParaRPr sz="2400">
              <a:solidFill>
                <a:schemeClr val="lt1"/>
              </a:solidFill>
              <a:latin typeface="Arial"/>
              <a:ea typeface="Arial"/>
              <a:cs typeface="Arial"/>
              <a:sym typeface="Arial"/>
            </a:endParaRPr>
          </a:p>
        </p:txBody>
      </p:sp>
      <p:sp>
        <p:nvSpPr>
          <p:cNvPr id="404" name="Google Shape;404;p38"/>
          <p:cNvSpPr/>
          <p:nvPr/>
        </p:nvSpPr>
        <p:spPr>
          <a:xfrm>
            <a:off x="1659567" y="3302754"/>
            <a:ext cx="8979195" cy="414335"/>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lt1"/>
                </a:solidFill>
                <a:latin typeface="Arial"/>
                <a:ea typeface="Arial"/>
                <a:cs typeface="Arial"/>
                <a:sym typeface="Arial"/>
              </a:rPr>
              <a:t>REGISTRAR INFORMACIÓN SOBRE CONDICIÓN DE MAQUINARIA</a:t>
            </a:r>
            <a:endParaRPr sz="2400">
              <a:solidFill>
                <a:schemeClr val="lt1"/>
              </a:solidFill>
              <a:latin typeface="Arial"/>
              <a:ea typeface="Arial"/>
              <a:cs typeface="Arial"/>
              <a:sym typeface="Arial"/>
            </a:endParaRPr>
          </a:p>
        </p:txBody>
      </p:sp>
      <p:sp>
        <p:nvSpPr>
          <p:cNvPr id="405" name="Google Shape;405;p38"/>
          <p:cNvSpPr/>
          <p:nvPr/>
        </p:nvSpPr>
        <p:spPr>
          <a:xfrm>
            <a:off x="795671" y="3894514"/>
            <a:ext cx="10706986" cy="889590"/>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lt1"/>
                </a:solidFill>
                <a:latin typeface="Arial"/>
                <a:ea typeface="Arial"/>
                <a:cs typeface="Arial"/>
                <a:sym typeface="Arial"/>
              </a:rPr>
              <a:t>MANTENIMIENTOS PREVENTIVOS ENFOCADOS A MAQUINARIA DE HEM SLEEVE(CABEZAL DE LA MÁQUINA)</a:t>
            </a:r>
            <a:endParaRPr sz="2400">
              <a:solidFill>
                <a:schemeClr val="lt1"/>
              </a:solidFill>
              <a:latin typeface="Arial"/>
              <a:ea typeface="Arial"/>
              <a:cs typeface="Arial"/>
              <a:sym typeface="Arial"/>
            </a:endParaRPr>
          </a:p>
        </p:txBody>
      </p:sp>
      <p:sp>
        <p:nvSpPr>
          <p:cNvPr id="406" name="Google Shape;406;p38"/>
          <p:cNvSpPr/>
          <p:nvPr/>
        </p:nvSpPr>
        <p:spPr>
          <a:xfrm>
            <a:off x="2042337" y="4961529"/>
            <a:ext cx="8213653" cy="506891"/>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400">
                <a:solidFill>
                  <a:schemeClr val="lt1"/>
                </a:solidFill>
                <a:latin typeface="Arial"/>
                <a:ea typeface="Arial"/>
                <a:cs typeface="Arial"/>
                <a:sym typeface="Arial"/>
              </a:rPr>
              <a:t>MEDIR NIVEL DE CONOCIMIENTO DE LOS MECÁNICOS</a:t>
            </a:r>
            <a:endParaRPr sz="2400">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9"/>
          <p:cNvSpPr txBox="1"/>
          <p:nvPr>
            <p:ph type="title"/>
          </p:nvPr>
        </p:nvSpPr>
        <p:spPr>
          <a:xfrm>
            <a:off x="0" y="184370"/>
            <a:ext cx="4104167" cy="815089"/>
          </a:xfrm>
          <a:prstGeom prst="rect">
            <a:avLst/>
          </a:prstGeom>
          <a:solidFill>
            <a:srgbClr val="0A3041"/>
          </a:solidFill>
          <a:ln>
            <a:noFill/>
          </a:ln>
        </p:spPr>
        <p:txBody>
          <a:bodyPr anchorCtr="0" anchor="ctr" bIns="45700" lIns="91425" spcFirstLastPara="1" rIns="91425" wrap="square" tIns="45700">
            <a:normAutofit fontScale="92500"/>
          </a:bodyPr>
          <a:lstStyle/>
          <a:p>
            <a:pPr indent="0" lvl="0" marL="0" rtl="0" algn="l">
              <a:lnSpc>
                <a:spcPct val="90000"/>
              </a:lnSpc>
              <a:spcBef>
                <a:spcPts val="0"/>
              </a:spcBef>
              <a:spcAft>
                <a:spcPts val="0"/>
              </a:spcAft>
              <a:buClr>
                <a:schemeClr val="lt1"/>
              </a:buClr>
              <a:buSzPct val="100000"/>
              <a:buFont typeface="Play"/>
              <a:buNone/>
            </a:pPr>
            <a:r>
              <a:rPr lang="es-ES" sz="3600">
                <a:solidFill>
                  <a:schemeClr val="lt1"/>
                </a:solidFill>
              </a:rPr>
              <a:t>REFLEXIÓN FINAL</a:t>
            </a:r>
            <a:endParaRPr sz="3600">
              <a:solidFill>
                <a:schemeClr val="lt1"/>
              </a:solidFill>
            </a:endParaRPr>
          </a:p>
        </p:txBody>
      </p:sp>
      <p:sp>
        <p:nvSpPr>
          <p:cNvPr id="412" name="Google Shape;412;p39"/>
          <p:cNvSpPr txBox="1"/>
          <p:nvPr/>
        </p:nvSpPr>
        <p:spPr>
          <a:xfrm>
            <a:off x="111641" y="1127432"/>
            <a:ext cx="11754294" cy="554619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1400">
                <a:solidFill>
                  <a:schemeClr val="dk1"/>
                </a:solidFill>
                <a:latin typeface="Roboto"/>
                <a:ea typeface="Roboto"/>
                <a:cs typeface="Roboto"/>
                <a:sym typeface="Roboto"/>
              </a:rPr>
              <a:t>Optimización de recursos y tiempos de procesamiento:</a:t>
            </a:r>
            <a:endParaRPr sz="1400">
              <a:solidFill>
                <a:schemeClr val="dk1"/>
              </a:solidFill>
              <a:latin typeface="Roboto"/>
              <a:ea typeface="Roboto"/>
              <a:cs typeface="Roboto"/>
              <a:sym typeface="Roboto"/>
            </a:endParaRPr>
          </a:p>
          <a:p>
            <a:pPr indent="-342900" lvl="0" marL="342900" marR="0" rtl="0" algn="just">
              <a:lnSpc>
                <a:spcPct val="150000"/>
              </a:lnSpc>
              <a:spcBef>
                <a:spcPts val="0"/>
              </a:spcBef>
              <a:spcAft>
                <a:spcPts val="0"/>
              </a:spcAft>
              <a:buClr>
                <a:schemeClr val="dk1"/>
              </a:buClr>
              <a:buSzPts val="1400"/>
              <a:buFont typeface="Noto Sans Symbols"/>
              <a:buChar char="✔"/>
            </a:pPr>
            <a:r>
              <a:rPr i="1" lang="es-ES" sz="1400">
                <a:solidFill>
                  <a:schemeClr val="dk1"/>
                </a:solidFill>
                <a:latin typeface="Arial"/>
                <a:ea typeface="Arial"/>
                <a:cs typeface="Arial"/>
                <a:sym typeface="Arial"/>
              </a:rPr>
              <a:t>Problema:</a:t>
            </a:r>
            <a:r>
              <a:rPr lang="es-ES" sz="1400">
                <a:solidFill>
                  <a:schemeClr val="dk1"/>
                </a:solidFill>
                <a:latin typeface="Arial"/>
                <a:ea typeface="Arial"/>
                <a:cs typeface="Arial"/>
                <a:sym typeface="Arial"/>
              </a:rPr>
              <a:t> Durante la ejecución del notebook en Google Colab, se presentaron problemas de falta de memoria RAM, lo que causó que el entorno colapsara. Esto ocurrió debido a la carga y procesamiento de grandes volúmenes de datos y modelos complejos que excedían la capacidad de memoria disponible en Colab.</a:t>
            </a:r>
            <a:endParaRPr sz="1400">
              <a:solidFill>
                <a:schemeClr val="dk1"/>
              </a:solidFill>
              <a:latin typeface="Arial"/>
              <a:ea typeface="Arial"/>
              <a:cs typeface="Arial"/>
              <a:sym typeface="Arial"/>
            </a:endParaRPr>
          </a:p>
          <a:p>
            <a:pPr indent="0" lvl="0" marL="457200" marR="0" rtl="0" algn="just">
              <a:lnSpc>
                <a:spcPct val="150000"/>
              </a:lnSpc>
              <a:spcBef>
                <a:spcPts val="0"/>
              </a:spcBef>
              <a:spcAft>
                <a:spcPts val="0"/>
              </a:spcAft>
              <a:buNone/>
            </a:pPr>
            <a:r>
              <a:rPr lang="es-E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1400"/>
              <a:buFont typeface="Noto Sans Symbols"/>
              <a:buChar char="✔"/>
            </a:pPr>
            <a:r>
              <a:rPr i="1" lang="es-ES" sz="1400">
                <a:solidFill>
                  <a:schemeClr val="dk1"/>
                </a:solidFill>
                <a:latin typeface="Arial"/>
                <a:ea typeface="Arial"/>
                <a:cs typeface="Arial"/>
                <a:sym typeface="Arial"/>
              </a:rPr>
              <a:t>Solución:</a:t>
            </a:r>
            <a:r>
              <a:rPr lang="es-ES" sz="1400">
                <a:solidFill>
                  <a:schemeClr val="dk1"/>
                </a:solidFill>
                <a:latin typeface="Arial"/>
                <a:ea typeface="Arial"/>
                <a:cs typeface="Arial"/>
                <a:sym typeface="Arial"/>
              </a:rPr>
              <a:t> Se adquirió Google Colab Pro, con un costo mensual de $10.00 para ampliar la capacidad de memoria RAM.</a:t>
            </a:r>
            <a:endParaRPr sz="1400">
              <a:solidFill>
                <a:schemeClr val="dk1"/>
              </a:solidFill>
              <a:latin typeface="Arial"/>
              <a:ea typeface="Arial"/>
              <a:cs typeface="Arial"/>
              <a:sym typeface="Arial"/>
            </a:endParaRPr>
          </a:p>
          <a:p>
            <a:pPr indent="0" lvl="0" marL="457200" marR="0" rtl="0" algn="just">
              <a:lnSpc>
                <a:spcPct val="150000"/>
              </a:lnSpc>
              <a:spcBef>
                <a:spcPts val="0"/>
              </a:spcBef>
              <a:spcAft>
                <a:spcPts val="0"/>
              </a:spcAft>
              <a:buNone/>
            </a:pPr>
            <a:r>
              <a:rPr lang="es-ES" sz="1400">
                <a:solidFill>
                  <a:schemeClr val="dk1"/>
                </a:solidFill>
                <a:latin typeface="Roboto"/>
                <a:ea typeface="Roboto"/>
                <a:cs typeface="Roboto"/>
                <a:sym typeface="Roboto"/>
              </a:rPr>
              <a:t> </a:t>
            </a:r>
            <a:endParaRPr sz="1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b="1" lang="es-ES" sz="1400">
                <a:solidFill>
                  <a:schemeClr val="dk1"/>
                </a:solidFill>
                <a:latin typeface="Roboto"/>
                <a:ea typeface="Roboto"/>
                <a:cs typeface="Roboto"/>
                <a:sym typeface="Roboto"/>
              </a:rPr>
              <a:t>Disponibilidad de acceso a información:</a:t>
            </a:r>
            <a:endParaRPr sz="1400">
              <a:solidFill>
                <a:schemeClr val="dk1"/>
              </a:solidFill>
              <a:latin typeface="Roboto"/>
              <a:ea typeface="Roboto"/>
              <a:cs typeface="Roboto"/>
              <a:sym typeface="Roboto"/>
            </a:endParaRPr>
          </a:p>
          <a:p>
            <a:pPr indent="-342900" lvl="0" marL="342900" marR="0" rtl="0" algn="just">
              <a:lnSpc>
                <a:spcPct val="150000"/>
              </a:lnSpc>
              <a:spcBef>
                <a:spcPts val="0"/>
              </a:spcBef>
              <a:spcAft>
                <a:spcPts val="0"/>
              </a:spcAft>
              <a:buClr>
                <a:schemeClr val="dk1"/>
              </a:buClr>
              <a:buSzPts val="1400"/>
              <a:buFont typeface="Noto Sans Symbols"/>
              <a:buChar char="✔"/>
            </a:pPr>
            <a:r>
              <a:rPr i="1" lang="es-ES" sz="1400">
                <a:solidFill>
                  <a:schemeClr val="dk1"/>
                </a:solidFill>
                <a:latin typeface="Arial"/>
                <a:ea typeface="Arial"/>
                <a:cs typeface="Arial"/>
                <a:sym typeface="Arial"/>
              </a:rPr>
              <a:t>Problema:</a:t>
            </a:r>
            <a:r>
              <a:rPr lang="es-ES" sz="1400">
                <a:solidFill>
                  <a:schemeClr val="dk1"/>
                </a:solidFill>
                <a:latin typeface="Arial"/>
                <a:ea typeface="Arial"/>
                <a:cs typeface="Arial"/>
                <a:sym typeface="Arial"/>
              </a:rPr>
              <a:t> A lo largo del desarrollo del TFM, surgió la limitación de no contar con acceso a ciertos datos críticos necesarios para el análisis y la modelización. Esto pudo deberse a restricciones en la disponibilidad de la información por parte de la empresa, la confidencialidad de ciertos datos, o la falta de registros completos y actualizados. Como resultado, algunas variables importantes para el modelo predictivo no estaban disponibles, lo que comprometía la precisión y robustez del análisis.</a:t>
            </a:r>
            <a:endParaRPr sz="1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b="1" lang="es-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342900" lvl="0" marL="342900" marR="0" rtl="0" algn="just">
              <a:lnSpc>
                <a:spcPct val="150000"/>
              </a:lnSpc>
              <a:spcBef>
                <a:spcPts val="0"/>
              </a:spcBef>
              <a:spcAft>
                <a:spcPts val="0"/>
              </a:spcAft>
              <a:buClr>
                <a:schemeClr val="dk1"/>
              </a:buClr>
              <a:buSzPts val="1400"/>
              <a:buFont typeface="Noto Sans Symbols"/>
              <a:buChar char="✔"/>
            </a:pPr>
            <a:r>
              <a:rPr i="1" lang="es-ES" sz="1400">
                <a:solidFill>
                  <a:schemeClr val="dk1"/>
                </a:solidFill>
                <a:latin typeface="Arial"/>
                <a:ea typeface="Arial"/>
                <a:cs typeface="Arial"/>
                <a:sym typeface="Arial"/>
              </a:rPr>
              <a:t>Solución:</a:t>
            </a:r>
            <a:r>
              <a:rPr lang="es-ES" sz="1400">
                <a:solidFill>
                  <a:schemeClr val="dk1"/>
                </a:solidFill>
                <a:latin typeface="Arial"/>
                <a:ea typeface="Arial"/>
                <a:cs typeface="Arial"/>
                <a:sym typeface="Arial"/>
              </a:rPr>
              <a:t> Para mitigar este problema se realizaron esfuerzos por obtener acceso a fuentes de datos adicionales o negociar la disponibilidad de los datos con los propietarios de la información, lo que permitió mejorar la calidad del análisis, en este caso se realizó la gestión con el departamento de mecánica para tener acceso a los datos de obsolescencia de Maquinaria y con Recursos Humanos para tener disponibles los datos de años de experiencia de los mecánicos.</a:t>
            </a:r>
            <a:endParaRPr sz="1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6" name="Shape 416"/>
        <p:cNvGrpSpPr/>
        <p:nvPr/>
      </p:nvGrpSpPr>
      <p:grpSpPr>
        <a:xfrm>
          <a:off x="0" y="0"/>
          <a:ext cx="0" cy="0"/>
          <a:chOff x="0" y="0"/>
          <a:chExt cx="0" cy="0"/>
        </a:xfrm>
      </p:grpSpPr>
      <p:pic>
        <p:nvPicPr>
          <p:cNvPr descr="1.403.200+ Gracias En Español Fotografías de stock, fotos e imágenes libres  de derechos - iStock | Gracias por su atencion, Muchas gracias, Gracias  fondo blanco" id="417" name="Google Shape;417;p40"/>
          <p:cNvPicPr preferRelativeResize="0"/>
          <p:nvPr/>
        </p:nvPicPr>
        <p:blipFill rotWithShape="1">
          <a:blip r:embed="rId3">
            <a:alphaModFix/>
          </a:blip>
          <a:srcRect b="0" l="0" r="0" t="0"/>
          <a:stretch/>
        </p:blipFill>
        <p:spPr>
          <a:xfrm>
            <a:off x="2044208" y="1284767"/>
            <a:ext cx="8103584" cy="40517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2024-09-27T13:58:29Z</dcterms:created>
  <dc:creator>Cesar Emilio Garcia Avalos</dc:creator>
</cp:coreProperties>
</file>